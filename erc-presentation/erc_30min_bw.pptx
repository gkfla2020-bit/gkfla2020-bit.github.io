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안녕하세요. 오늘 발표할 논문은 ERC 포트폴리오 논문입니다. 핵심 질문은 '포트폴리오를 어떻게 짜야 하는가?'이고, 이 논문은 '자본이 아니라 리스크를 균등하게 나누자'는 아이디어의 수학적 기초를 놓은 최초의 학술 논문입니다.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질문은 간단합니다 — 포트폴리오를 어떻게 짜야 하는가? Markowitz 최적화는 미래 수익률을 알면 최적 비중을 계산할 수 있다고 하지만, 문제는 미래 수익률을 아무도 모른다는 겁니다. 1/n은 아무것도 모르니까 다 똑같이 넣자입니다. MV는 변동성을 최소화하자입니다. ERC는 제3의 방법입니다 — 돈이 아니라 리스크를 균등하게 나누자.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수식이 의미하는 것을 실제 주가로 설명하겠습니다. σᵢ(x)에서 (Σx)ᵢ는 자산 i가 포트폴리오 전체와 얼마나 같이 움직이는가입니다. 주식 50%, 채권 50%로 투자하면 돈은 반반이지만, 주식이 하루에 2% 움직이고 채권이 0.3% 움직이면, 포트폴리오의 일간 손익 변동의 거의 전부가 주식에서 옵니다. ERC는 이 기여도를 모든 자산이 1/n씩 똑같이 만드는 전략입니다.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전략이 실제로 뭘 하는지 주가 움직임으로 설명하겠습니다. 1/n은 50:50으로 넣습니다. 주식이 −2% 빠지고 채권이 +0.3% 오르면, 손실의 거의 전부가 주식에서 옵니다. MV는 채권에 94% 넣습니다. 안전하지만 상승장에서도 +0.4%밖에 안 됩니다. ERC는 주식 20%, 채권 80%로 넣습니다. 위기 시 손실이 한쪽에 몰리지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2자산 ERC의 닫힌 해가 의미하는 것을 설명하겠습니다. 삼성전자(σ=30%)와 미국 국채(σ=7%)로 ERC를 만들면, 삼성전자 19%, 국채 81%입니다. 놀라운 것은 이 비중이 상관계수에 무관하다는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등상관 케이스의 핵심은 이겁니다 — 모든 자산 쌍의 상관이 같으면, ERC 비중은 단순히 변동성의 역수에 비례합니다. 최적화를 돌릴 필요도 없이 각 자산의 변동성만 알면 바로 계산됩니다. 그리고 상관이 하한값에 접근하면 MV와 ERC가 일치합니다. 즉 분산 효과가 극대화되면 리스크를 최소화하는 것과 리스크를 균등화하는 것이 같은 결과를 낳습니다.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일반적 경우의 ERC 해는 베타 역수 가중입니다. 여기서 베타는 자산 i가 ERC 포트폴리오와 얼마나 같이 움직이는가를 나타냅니다. 포트폴리오가 빠질 때 같이 많이 빠지는 자산은 비중을 줄이고, 덜 빠지거나 반대로 움직이는 자산은 비중을 높입니다.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ERC가 최적이 되는 조건은 간단합니다 — 모든 자산의 기대수익률이 같을 때입니다. 현실에서 기대수익률이 정확히 같지는 않지만, 핵심은 기대수익률을 모르면 다 같다고 가정하는 게 합리적이라는 겁니다. 이것이 ERC의 철학입니다.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부등식이 의미하는 것은 직관적입니다. MV는 변동성을 최소화하는 극단이니까 당연히 가장 낮고, 1/n은 리스크를 전혀 고려하지 않으니까 가장 높습니다. ERC는 리스크를 균등화하는 것이지 최소화하는 것이 아니므로 중간입니다.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4자산 예제입니다. 1/n에서 Asset 4가 리스크의 47%를 차지합니다. MV에서 Asset 2가 비중 0%입니다 — Asset 1과 상관 0.80이라 열등한 복제품으로 취급되어 완전 배제됩니다. ERC는 모든 자산이 정확히 25%씩 리스크를 기여합니다.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집중도 지표가 왜 중요한지 실제 상황으로 설명하겠습니다. MV의 가중치 Gini가 82%라는 것은, 13개 자산 중 IEF 하나에 57.6%가 몰려 있다는 뜻입니다. ERC의 RC Gini는 0.27% — 거의 완벽한 0입니다. 턴오버도 ERC 5.96% vs MV 10.85%로 거래비용이 절반입니다.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1의 핵심은 하단 패널입니다. ERC RC만 수평선입니다. Figure 2에서는 2008 위기 시 1/n이 가장 큰 폭락을 겪지만, 전체 기간 ERC 샤프가 0.67로 최고입니다.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3개 유니버스를 종합하면 패턴이 명확합니다. 동질적 자산에서는 MV가 최고이지만, 이질적 자산에서는 ERC가 압도적입니다. 변동성 범위가 3~4배 이상 벌어지면 ERC가 강력해집니다.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데이터를 설명하겠습니다. 13개 ETF를 Yahoo Finance에서 12년치 일간 가격을 다운로드했습니다. 변동성 범위가 6.76%에서 33.19%까지 4.9배 차이나고, 주식-채권 상관이 −43%로 강한 음의 상관입니다.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1억 원을 투자한다고 합시다. 1/n은 13개 ETF에 각각 770만원씩 넣습니다. MV는 IEF에 5,760만원을 넣습니다. 사실상 미국 국채 펀드입니다. ERC는 모든 자산이 리스크의 정확히 7.69%씩 기여하도록 조절합니다.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6패널 박스플롯이 논문 Figure 1의 재현입니다. 핵심은 ERC RC가 모든 자산이 7.69%로 거의 완벽한 수평선이라는 것입니다. 가중치는 시장 환경에 따라 변하지만, 리스크 기여도는 항상 균등합니다.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누적 수익률 차트를 주가 움직임으로 읽겠습니다. 2008년 9월 리먼 파산 이후 1/n은 -34% 폭락합니다. MV는 -11%만 하락합니다. ERC는 -21% 하락합니다. 최종 2018년 12월: 1/n 150.6, MV 141.5, ERC 141.1. 1/n이 절대 수익률 최고이지만 -40% 폭락을 겪었습니다.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논문과 제 데이터의 가장 큰 차이는 샤프 순위입니다. 하지만 차이점보다 공통점이 더 중요합니다. 다섯 가지 구조적 성질이 양쪽 모두에서 확인됩니다.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가중치 시계열에서 ERC의 자동 방어 메커니즘이 보입니다. 2008 위기 직후 주식 변동성이 급등하면서 ERC가 자동으로 채권 비중을 높입니다. RC 시계열이 핵심입니다. ERC는 모든 자산이 약 7.69%로 거의 완벽한 수평선입니다.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결론입니다. 이 논문의 핵심 기여는 다섯 가지입니다. 제 실증에서도 모두 확인되었습니다. 한계도 있지만, 이 논문은 자본이 아니라 리스크를 균등하게 나누자는 아이디어의 수학적 기초를 놓은 최초의 학술 논문입니다.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예상 질문에 대한 답변을 준비했습니다.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마무리하겠습니다. 이 논문의 핵심 메시지는 — 돈이 아니라 리스크를 나눠라. 이질적 자산군에서 ERC가 가장 강력합니다.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Pretendard"/>
              </a:defRPr>
            </a:pPr>
            <a:r>
              <a:t>On the Properties of Equally-Weighted</a:t>
            </a:r>
            <a:br/>
            <a:r>
              <a:t>Risk Contributions Portfolios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BB"/>
                </a:solidFill>
                <a:latin typeface="Pretendard"/>
              </a:defRPr>
            </a:pPr>
            <a:r>
              <a:t>Maillard, Roncalli &amp; Teiletche (2009)  ·  Journal of Portfolio Management, 36(4)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Pretendard"/>
              </a:defRPr>
            </a:pPr>
            <a:r>
              <a:t>논문 전문 리뷰 &amp; 데이터 드리븐 실증 분석</a:t>
            </a:r>
            <a:br/>
            <a:r>
              <a:t>글로벌 멀티에셋 ETF 13종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Pretendard"/>
              </a:defRPr>
            </a:pPr>
            <a:r>
              <a:t>2026.04.14  |  30분 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BBBBB"/>
                </a:solidFill>
                <a:latin typeface="Pretendard"/>
              </a:defRPr>
            </a:pPr>
            <a:r>
              <a:t>1/25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§1 Introduction: 이 논문이 풀려는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Pretendard"/>
              </a:defRPr>
            </a:pPr>
            <a:r>
              <a:t>~2분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핵심 질문: 포트폴리오를 어떻게 짜야 하는가?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❌ Markowitz 최적화의 문제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· 미래 수익률을 아무도 모름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· 추정치 0.1% 변경 → 비중 완전 뒤집힘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1/n (동일가중): 모든 자산에 같은 돈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→ 삼성전자(σ=30%)와 국채(σ=7%)에 같은 돈 넣으면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   포트폴리오 손익의 대부분이 삼성전자에서 옴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MV (최소분산): 변동성을 최소화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→ 국채에 90% 집중 → 사실상 채권 펀드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389120"/>
            <a:ext cx="5303520" cy="201168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ERC = 제3의 방법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"돈이 아니라 리스크를 균등하게 나누자"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· 변동성이 큰 자산 → 비중 ↓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· 변동성이 작은 자산 → 비중 ↑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· 각 자산의 리스크 기여도를 같게 만든다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3035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49377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2008 금융위기가 전환점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60/40 포트폴리오: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자본 배분 = 주식 60% : 채권 40%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리스크 기여도 = 주식 110% : 채권 −10%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→ 사실상 주식 올인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S&amp;P 500 −57% 폭락 → 60/40도 −30% 하락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"분산 투자"라고 생각했는데 실제로는 주식 올인이었음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Bridgewater All Weather: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같은 위기에서 −3.9%만 하락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→ 리스크를 균등 배분한 결과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BBBBB"/>
                </a:solidFill>
                <a:latin typeface="Pretendard"/>
              </a:defRPr>
            </a:pPr>
            <a:r>
              <a:t>2/25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§2.1 리스크 기여도(Risk Contributions)의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Pretendard"/>
              </a:defRPr>
            </a:pPr>
            <a:r>
              <a:t>~2분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σᵢ(x) = xᵢ · (Σx)ᵢ / σ(x)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(Σx)ᵢ = 자산 i가 포트폴리오 전체와 얼마나 같이 움직이는가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xᵢ = 현재 비중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σᵢ(x) = 이 자산이 포트폴리오 변동성에 실제로 얼마나 기여하는가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오일러 정리: σ(x) = Σᵢ σᵢ(x)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→ 포트폴리오 전체 리스크 = 각 자산 RC의 합 (수학적 등식)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ERC 조건: cᵢ = σᵢ/σ = 1/n  ∀i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→ 모든 자산이 전체 리스크의 정확히 1/n씩 기여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005840"/>
            <a:ext cx="5303520" cy="228600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핵심 예시: 주식 50% + 채권 50%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돈은 반반이지만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주식이 하루 2% 움직이고 채권이 0.3% 움직이면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포트폴리오 일간 손익의 거의 전부가 주식에서 옴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리스크 기여도: 주식 94% vs 채권 6%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→ "분산 투자"가 아니라 사실상 주식 올인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474720"/>
            <a:ext cx="5303520" cy="292608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56616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60/40 vs ERC 비교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         60/40    ERC(2자산)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주식비중   60%      20%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채권비중   40%      80%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주식RC    110%      50%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채권RC    −10%      50%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σ        11.5%    5.66%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2008손실  ~−30%    ~−15%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BBBBB"/>
                </a:solidFill>
                <a:latin typeface="Pretendard"/>
              </a:defRPr>
            </a:pPr>
            <a:r>
              <a:t>3/25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§2.2 세 전략 비교: 1/n vs MV vs ERC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Pretendard"/>
              </a:defRPr>
            </a:pPr>
            <a:r>
              <a:t>~1.5분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566160" cy="411480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Pretendard"/>
              </a:defRPr>
            </a:pPr>
            <a:r>
              <a:t>1/n 동일가중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retendard"/>
              </a:defRPr>
            </a:pPr>
            <a:r>
              <a:t>xᵢ = 1/n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Pretendard"/>
              </a:defRPr>
            </a:pPr>
            <a:r>
              <a:t>모든 자산에 같은 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· 주식 −2%, 채권 +0.3%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· → 포트폴리오 −0.85%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· → 손실 거의 전부 주식에서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· 자본의 민주주의, 리스크의 독재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005840"/>
            <a:ext cx="3566160" cy="411480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097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Pretendard"/>
              </a:defRPr>
            </a:pPr>
            <a:r>
              <a:t>MV 최소분산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4630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retendard"/>
              </a:defRPr>
            </a:pPr>
            <a:r>
              <a:t>∂σ/∂xᵢ = ∂σ/∂xⱼ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Pretendard"/>
              </a:defRPr>
            </a:pPr>
            <a:r>
              <a:t>추가 1원 넣어도 리스크 증가 같다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19456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· 채권에 94% 집중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· 상승장에서도 +0.4%밖에 안됨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· 사실상 채권 펀드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· 리스크의 독재 (다른 방향)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005840"/>
            <a:ext cx="3566160" cy="411480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097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Pretendard"/>
              </a:defRPr>
            </a:pPr>
            <a:r>
              <a:t>ERC 리스크 균등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14630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Pretendard"/>
              </a:defRPr>
            </a:pPr>
            <a:r>
              <a:t>xᵢ(Σx)ᵢ = xⱼ(Σx)ⱼ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Pretendard"/>
              </a:defRPr>
            </a:pPr>
            <a:r>
              <a:t>각 자산의 리스크 기여도가 같다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19456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· 주식 20%, 채권 80%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· 위기 시 한쪽에 안 몰림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· 상승장에서도 주식 수혜 일부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· 리스크의 민주주의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303520"/>
            <a:ext cx="11430000" cy="118872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394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수치 예시: 주식(σ=20%) + 채권(σ=5%), ρ=0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1/n: 비중 50:50, RC 94:6, σ=10.31%  |  MV: 비중 6:94, σ=4.85%  |  ERC: 비중 20:80, RC 50:50, σ=5.66%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부등식: σ_MV(4.85%) ≤ σ_ERC(5.66%) ≤ σ_1/n(10.31%)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BBBBB"/>
                </a:solidFill>
                <a:latin typeface="Pretendard"/>
              </a:defRPr>
            </a:pPr>
            <a:r>
              <a:t>4/25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§3.1 2자산 닫힌 해: 변동성 역수 가중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Pretendard"/>
              </a:defRPr>
            </a:pPr>
            <a:r>
              <a:t>~1.5분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1A1A"/>
                </a:solidFill>
                <a:latin typeface="Pretendard"/>
              </a:defRPr>
            </a:pPr>
            <a:r>
              <a:t>x₁* = σ₂ / (σ₁ + σ₂)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Pretendard"/>
              </a:defRPr>
            </a:pPr>
            <a:r>
              <a:t>예시: 삼성전자(σ=30%) + 미국 국채(σ=7%)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Pretendard"/>
              </a:defRPr>
            </a:pPr>
            <a:r>
              <a:t>  삼성전자 비중 = 7/(30+7) = 19%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Pretendard"/>
              </a:defRPr>
            </a:pPr>
            <a:r>
              <a:t>  미국 국채 비중 = 30/(30+7) = 81%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Pretendard"/>
              </a:defRPr>
            </a:pPr>
            <a:r>
              <a:t>변동성이 큰 자산은 비중 ↓, 작은 자산은 비중 ↑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840480"/>
            <a:ext cx="5303520" cy="256032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놀라운 성질: 상관계수에 완전히 무관!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삼성전자-국채 상관이 −0.5이든 0이든 +0.5이든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ERC 비중은 항상 19:81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σ₁=10%, σ₂=20% 수치 예제: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  ρ=−0.5: ERC 66.7%, MV 85.7%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  ρ= 0.0: ERC 66.7%, MV 80.0%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  ρ= 0.5: ERC 66.7%, MV 75.0%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  ρ= 0.9: ERC 66.7%, MV 62.5%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→ ERC는 항상 66.7%, MV는 62.5~85.7% 변동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→ 상관 추정이 틀려도 ERC 비중은 변하지 않음</a:t>
            </a:r>
          </a:p>
        </p:txBody>
      </p:sp>
      <p:pic>
        <p:nvPicPr>
          <p:cNvPr id="9" name="Picture 8" descr="chart_2as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30352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BBBBB"/>
                </a:solidFill>
                <a:latin typeface="Pretendard"/>
              </a:defRPr>
            </a:pPr>
            <a:r>
              <a:t>5/25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§3.2 등상관 케이스: 변동성 역수 가중의 n자산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Pretendard"/>
              </a:defRPr>
            </a:pPr>
            <a:r>
              <a:t>~1.5분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  <a:latin typeface="Pretendard"/>
              </a:defRPr>
            </a:pPr>
            <a:r>
              <a:t>xᵢ* = σᵢ⁻¹ / Σⱼ σⱼ⁻¹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모든 자산 쌍의 상관이 같으면 → ERC = 변동성 역수에 비례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IEF(σ=6.76%): 역수 0.148 → 비중 높음 (~30%)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GLD(σ=18.45%): 역수 0.054 → 비중 중간 (~9%)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VNQ(σ=33.19%): 역수 0.030 → 비중 낮음 (~2%)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의미: IEF가 하루 0.4% 움직이고 VNQ가 2% 움직이면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IEF에 많은 돈, VNQ에 적은 돈 → 충격의 크기를 같게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최적화 없이 변동성만 알면 즉시 계산 가능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→ Inverse Volatility Weighting = ERC의 간편 버전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37360"/>
            <a:ext cx="5303520" cy="182880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학술적 발견: ρ → −1/(n−1) 일 때 MV = ERC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모든 자산이 최대한 반대로 움직이는 극단적 분산 상황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→ 분산 효과 극대화 시 리스크 최소화 = 리스크 균등화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→ ERC는 "분산 효과가 극대화된 MV"로 해석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749039"/>
            <a:ext cx="5303520" cy="137160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등변동성 + 이상관 케이스 (식 4')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→ 다른 자산과의 상관이 낮은 자산일수록 비중 ↑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→ 금(GLD)이 주식과 거의 무상관(2.8%)이라 ERC에서 높은 비중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→ ERC는 변동성만 보는 게 아니라 상관 구조도 활용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BBBBB"/>
                </a:solidFill>
                <a:latin typeface="Pretendard"/>
              </a:defRPr>
            </a:pPr>
            <a:r>
              <a:t>6/25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§3.3-3.4 일반적 경우: 베타 역수 가중 &amp; 수치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Pretendard"/>
              </a:defRPr>
            </a:pPr>
            <a:r>
              <a:t>~2분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1A"/>
                </a:solidFill>
                <a:latin typeface="Pretendard"/>
              </a:defRPr>
            </a:pPr>
            <a:r>
              <a:t>xᵢ* = βᵢ⁻¹ / Σⱼ βⱼ⁻¹     (βᵢ = (Σx*)ᵢ / σ(x*))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βᵢ = 자산 i가 ERC 포트폴리오와 얼마나 같이 움직이는가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포트폴리오 빠질 때 같이 많이 빠지는 자산 (높은 β) → 비중 ↓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덜 빠지거나 반대로 움직이는 자산 (낮은 β) → 비중 ↑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EWY 한국 (높은 β) → 비중 2.3%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GLD 금 (낮은 β, 독립적) → 비중 9.2%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IEF 국채 (매우 낮은 β, 반대) → 비중 29.8%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37360"/>
            <a:ext cx="5303520" cy="228600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수치 최적화: 논문 식 (6)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f(x) = ΣᵢΣⱼ(xᵢ(Σx)ᵢ − xⱼ(Σx)ⱼ)²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= 모든 자산 쌍의 RC 차이를 0으로 만들어라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f(x*)=0 → 모든 자산의 RC가 같다 = ERC 조건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scipy SLSQP, 초기값 1/n → 131회 모두 수렴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식 (7) 볼록 변환: 전역 최적 보장하지만 구현 복잡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→ 논문 저자들도 식 (6) 선호, 실무에서도 표준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BBBBB"/>
                </a:solidFill>
                <a:latin typeface="Pretendard"/>
              </a:defRPr>
            </a:pPr>
            <a:r>
              <a:t>7/25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§3.5 ERC는 언제 최적인가?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Pretendard"/>
              </a:defRPr>
            </a:pPr>
            <a:r>
              <a:t>~1.5분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  <a:latin typeface="Pretendard"/>
              </a:defRPr>
            </a:pPr>
            <a:r>
              <a:t>모든 자산의 기대수익률이 같을 때 → ERC = Maximum Sharpe Ratio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Pretendard"/>
              </a:defRPr>
            </a:pPr>
            <a:r>
              <a:t>ERC의 암묵적 가정: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Pretendard"/>
              </a:defRPr>
            </a:pPr>
            <a:r>
              <a:t>"기대수익률을 모르면 다 같다고 가정하는 게 합리적"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Pretendard"/>
              </a:defRPr>
            </a:pPr>
            <a:r>
              <a:t>· 주식이 연 8% 오를지 5% 오를지 아무도 모름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Pretendard"/>
              </a:defRPr>
            </a:pPr>
            <a:r>
              <a:t>· 잘못된 추정으로 MV 폭발하는 것보다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Pretendard"/>
              </a:defRPr>
            </a:pPr>
            <a:r>
              <a:t>  "다 같다"고 가정하고 리스크만 균등화하는 게 안전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114800"/>
            <a:ext cx="5303520" cy="228600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Pretendard"/>
              </a:defRPr>
            </a:pPr>
            <a:r>
              <a:t>ERC의 철학: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Pretendard"/>
              </a:defRPr>
            </a:pPr>
            <a:r>
              <a:t>"미래 수익률은 모르지만,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Pretendard"/>
              </a:defRPr>
            </a:pPr>
            <a:r>
              <a:t> 리스크는 측정할 수 있다.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Pretendard"/>
              </a:defRPr>
            </a:pPr>
            <a:r>
              <a:t> 그러니 리스크만 관리하자."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solidFill>
            <a:srgbClr val="1A1A1A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Pretendard"/>
              </a:defRPr>
            </a:pPr>
            <a:r>
              <a:t>Bridgewater All Weather가 이 철학을 구현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Pretendard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Pretendard"/>
              </a:defRPr>
            </a:pPr>
            <a:r>
              <a:t>"경제가 어떻게 변하든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Pretendard"/>
              </a:defRPr>
            </a:pPr>
            <a:r>
              <a:t> 리스크가 균등하면 견딜 수 있다"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Pretendard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Pretendard"/>
              </a:defRPr>
            </a:pPr>
            <a:r>
              <a:t>2008 위기: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Pretendard"/>
              </a:defRPr>
            </a:pPr>
            <a:r>
              <a:t>  All Weather  −3.9%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Pretendard"/>
              </a:defRPr>
            </a:pPr>
            <a:r>
              <a:t>  60/40        −30%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Pretendard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Pretendard"/>
              </a:defRPr>
            </a:pPr>
            <a:r>
              <a:t>AUM $150B+ (세계 최대 헤지펀드 전략)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BBBBB"/>
                </a:solidFill>
                <a:latin typeface="Pretendard"/>
              </a:defRPr>
            </a:pPr>
            <a:r>
              <a:t>8/25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§3 핵심 정리: 변동성 부등식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Pretendard"/>
              </a:defRPr>
            </a:pPr>
            <a:r>
              <a:t>~1.5분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A1A1A"/>
                </a:solidFill>
                <a:latin typeface="Pretendard"/>
              </a:defRPr>
            </a:pPr>
            <a:r>
              <a:t>σ_MV  ≤  σ_ERC  ≤  σ_1/n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Pretendard"/>
              </a:defRPr>
            </a:pPr>
            <a:r>
              <a:t>어떤 시장에서든 항상 성립하는 수학적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MV: 변동성 최소화의 극단 → 당연히 가장 낮음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1/n: 리스크를 전혀 고려 안 함 → 당연히 가장 높음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ERC: 리스크를 균등화 (최소화 아님) → 중간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실증 확인: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논문 Global: 3.20% ≤ 4.92% ≤ 10.87% ✓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내 데이터:   5.15% ≤ 7.98% ≤ 13.88% 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926080"/>
            <a:ext cx="5303520" cy="228600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01752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주가 움직임으로 이해하면: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MV: IEF에 57.6% → IEF 0.4% 움직이면 포트폴리오 0.23%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안정적이지만 IEF 하나에 운명이 걸림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1/n: 13개 균등 → 주식 6개 동시 폭락 시 상쇄 안됨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ERC: 채권 63% + 주식 22%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→ 어느 한쪽에 운명 안 걸림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486400"/>
            <a:ext cx="10972800" cy="91440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ERC 선택 시: MV 대비 +2.83%p 변동성 → 대가: 13개 자산 모두 투자, 턴오버 절반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1/n 대비 −5.90%p 변동성 절감 → 1억 원 투자 시 하루 최대 손실 261만원 → 128만원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BBBBB"/>
                </a:solidFill>
                <a:latin typeface="Pretendard"/>
              </a:defRPr>
            </a:pPr>
            <a:r>
              <a:t>9/25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§4.1 4자산 Toy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Pretendard"/>
              </a:defRPr>
            </a:pPr>
            <a:r>
              <a:t>~1.5분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88888"/>
                </a:solidFill>
                <a:latin typeface="Pretendard"/>
              </a:defRPr>
            </a:pPr>
            <a:r>
              <a:t>변동성: 10% / 20% / 30% / 40%  |  상관: Asset 1-2 = 0.80, Asset 3-4 = −0.50, 나머지 = 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3566160" cy="320040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Pretendard"/>
              </a:defRPr>
            </a:pPr>
            <a:r>
              <a:t>1/n: 모두 25%씩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RC: 12.3% / 26.4% / 14.1% / 47.2%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→ Asset 4가 리스크의 47% 차지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→ 돈은 균등, 리스크는 극도로 불균등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554480"/>
            <a:ext cx="3566160" cy="320040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645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Pretendard"/>
              </a:defRPr>
            </a:pPr>
            <a:r>
              <a:t>MV: 74.5% / 0% / 15% / 10.4%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01168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Asset 2 완전 배제!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Asset 1과 상관 0.80 → 열등한 복제품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→ MV는 비슷한 자산 중 하나를 무조건 배제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554480"/>
            <a:ext cx="3566160" cy="320040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645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Pretendard"/>
              </a:defRPr>
            </a:pPr>
            <a:r>
              <a:t>ERC: 38.4% / 19.2% / 24.3% / 18.2%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01168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RC: 25% / 25% / 25% / 25% ← 완벽 균등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모든 자산에 양의 비중, Asset 2도 19.2%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→ 변동성 낮은 자산에 더 많은 비중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37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Pretendard"/>
              </a:defRPr>
            </a:pPr>
            <a:r>
              <a:t>부등식: σ_MV(8.6%) ≤ σ_ERC(10.3%) ≤ σ_1/n(11.5%) ✓</a:t>
            </a:r>
          </a:p>
        </p:txBody>
      </p:sp>
      <p:pic>
        <p:nvPicPr>
          <p:cNvPr id="16" name="Picture 15" descr="chart_4as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303520"/>
            <a:ext cx="10972800" cy="1371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BBBBB"/>
                </a:solidFill>
                <a:latin typeface="Pretendard"/>
              </a:defRPr>
            </a:pPr>
            <a:r>
              <a:t>10/25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집중도 측정: Herfindahl, Gini, Turnover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Pretendard"/>
              </a:defRPr>
            </a:pPr>
            <a:r>
              <a:t>~1분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Herfindahl H̄: 가중치 제곱합 → "가장 큰 비중이 얼마나 큰가"  |  Gini Ḡ: 로렌츠 곡선 → "전체 분포가 얼마나 불균등한가"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Turnover T̄: 리밸런싱 시 비중 변화 → 거래비용 대리변수  |  0 = 완전 균등, 1 = 단일 자산 집중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10972800" cy="182880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Pretendard"/>
              </a:defRPr>
            </a:pPr>
            <a:r>
              <a:t>제 실증 결과:                H̄_w      Ḡ_w      T̄_w      H̄_rc     Ḡ_rc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Pretendard"/>
              </a:defRPr>
            </a:pPr>
            <a:r>
              <a:t>1/n:                       0.59%    0.00%    0.00%    5.46%   42.64%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Pretendard"/>
              </a:defRPr>
            </a:pPr>
            <a:r>
              <a:t>MV:                       40.78%   81.96%   10.85%   40.78%   81.96%  ← 극단적 집중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Pretendard"/>
              </a:defRPr>
            </a:pPr>
            <a:r>
              <a:t>ERC:                       6.36%   38.02%    5.96%    0.61%    0.27%  ← RC 거의 완벽 균등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MV의 문제: Gini 82%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IEF 하나에 57.6% 몰림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"멀티에셋 포트폴리오"인데 실질적으로 국채 펀드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미국 국채에 구조적 변화 오면 포트폴리오 붕괴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3891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ERC의 장점: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RC Gini 0.27% ≈ 완벽 균등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돈의 배분은 불균등하지만 리스크의 배분은 완벽히 균등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턴오버: ERC 5.96% vs MV 10.85%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= 매월 비중 조정량이 절반 = 거래비용 절반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BBBBB"/>
                </a:solidFill>
                <a:latin typeface="Pretendard"/>
              </a:defRPr>
            </a:pPr>
            <a:r>
              <a:t>11/25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§4.2 실증 1: US Equity Sectors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Pretendard"/>
              </a:defRPr>
            </a:pPr>
            <a:r>
              <a:t>동질적 유니버스 — 10개 미국 주식 섹터 (1973-2008)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변동성: 14.5%(유틸리티) ~ 26.2%(기술) = 1.8배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평균 상관: ~63% — 미국 경제 좋으면 다 같이 오르고 나쁘면 다 같이 빠짐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MV 샤프 0.77 최고 — 유틸리티+헬스케어에 집중이 효과적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하지만 MV Gini 79% = 10개 중 2~3개에만 투자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ERC 샤프 0.65, Gini 13.5%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학술적 의미: 동질적 자산에서는 ERC의 장점이 제한적</a:t>
            </a:r>
          </a:p>
        </p:txBody>
      </p:sp>
      <p:pic>
        <p:nvPicPr>
          <p:cNvPr id="6" name="Picture 5" descr="img_tab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05840"/>
            <a:ext cx="4846320" cy="2743200"/>
          </a:xfrm>
          <a:prstGeom prst="rect">
            <a:avLst/>
          </a:prstGeom>
        </p:spPr>
      </p:pic>
      <p:pic>
        <p:nvPicPr>
          <p:cNvPr id="7" name="Picture 6" descr="img_tabl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840480"/>
            <a:ext cx="484632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BBBBB"/>
                </a:solidFill>
                <a:latin typeface="Pretendard"/>
              </a:defRPr>
            </a:pPr>
            <a:r>
              <a:t>12/25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§4.2 실증 2: Agricultural Commodity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Pretendard"/>
              </a:defRPr>
            </a:pPr>
            <a:r>
              <a:t>저상관 유니버스 — 8개 농산물 선물 (1979-2008)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코코아, 원유, 난방유, 대두, 밀, 면화, 커피, 설탕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상관: ~10% — 각 농산물이 독립적으로 움직임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MV 샤프 0.74 최고 — 원유(CLC)에 38% 집중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ERC: "8개 독립적 베팅에 같은 리스크 예산 배분"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동질적 자산(주식만, 원자재만) → MV 우위</a:t>
            </a:r>
          </a:p>
        </p:txBody>
      </p:sp>
      <p:pic>
        <p:nvPicPr>
          <p:cNvPr id="6" name="Picture 5" descr="img_tabl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05840"/>
            <a:ext cx="4846320" cy="2743200"/>
          </a:xfrm>
          <a:prstGeom prst="rect">
            <a:avLst/>
          </a:prstGeom>
        </p:spPr>
      </p:pic>
      <p:pic>
        <p:nvPicPr>
          <p:cNvPr id="7" name="Picture 6" descr="img_tabl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840480"/>
            <a:ext cx="484632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BBBBB"/>
                </a:solidFill>
                <a:latin typeface="Pretendard"/>
              </a:defRPr>
            </a:pPr>
            <a:r>
              <a:t>13/25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§4.2 실증 3: Global Diversified 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Pretendard"/>
              </a:defRPr>
            </a:pPr>
            <a:r>
              <a:t>이질적 유니버스 — 13개 글로벌 자산 (1995-2008) ★ 핵심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변동성: 4.3%(하이일드) ~ 29.8%(중남미 주식) = 6.9배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주식-채권 상관: −19% — 주식 빠지면 채권 오름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★ ERC 샤프 0.67 최고!  MV 0.49, 1/n 0.27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MV: 채권에 80%+ 올인 → 수익률 5.42%에 갇힘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1/n: 주식 8개에 62% → 2008 위기 시 −34% 폭락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ERC: 채권 안정성 + 주식 성장성 균형 → 최고 샤프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이질적 자산군에서 ERC가 압도적 — 논문의 핵심 메시지</a:t>
            </a:r>
          </a:p>
        </p:txBody>
      </p:sp>
      <p:pic>
        <p:nvPicPr>
          <p:cNvPr id="6" name="Picture 5" descr="img_tabl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05840"/>
            <a:ext cx="4846320" cy="2743200"/>
          </a:xfrm>
          <a:prstGeom prst="rect">
            <a:avLst/>
          </a:prstGeom>
        </p:spPr>
      </p:pic>
      <p:pic>
        <p:nvPicPr>
          <p:cNvPr id="7" name="Picture 6" descr="img_tabl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840480"/>
            <a:ext cx="484632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BBBBB"/>
                </a:solidFill>
                <a:latin typeface="Pretendard"/>
              </a:defRPr>
            </a:pPr>
            <a:r>
              <a:t>14/25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Figure 1 &amp; 2: 논문 원본 시각화</a:t>
            </a:r>
          </a:p>
        </p:txBody>
      </p:sp>
      <p:pic>
        <p:nvPicPr>
          <p:cNvPr id="4" name="Picture 3" descr="img_fig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669280" cy="5303520"/>
          </a:xfrm>
          <a:prstGeom prst="rect">
            <a:avLst/>
          </a:prstGeom>
        </p:spPr>
      </p:pic>
      <p:pic>
        <p:nvPicPr>
          <p:cNvPr id="5" name="Picture 4" descr="img_figur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66928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008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Pretendard"/>
              </a:defRPr>
            </a:pPr>
            <a:r>
              <a:t>Figure 1: Weights &amp; RC — ERC RC만 수평선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64008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Pretendard"/>
              </a:defRPr>
            </a:pPr>
            <a:r>
              <a:t>Figure 2: 누적 수익률 — 1/n 급등락, MV 안정, ERC 중간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BBBBB"/>
                </a:solidFill>
                <a:latin typeface="Pretendard"/>
              </a:defRPr>
            </a:pPr>
            <a:r>
              <a:t>15/25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논문 실증 종합: 3개 유니버스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Pretendard"/>
              </a:defRPr>
            </a:pPr>
            <a:r>
              <a:t>~1분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0972800" cy="164592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Pretendard"/>
              </a:defRPr>
            </a:pPr>
            <a:r>
              <a:t>유니버스        자산수  유형      σ비율   평균상관  1/n샤프  MV샤프  ERC샤프  최고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Pretendard"/>
              </a:defRPr>
            </a:pPr>
            <a:r>
              <a:t>US Sectors    10    주식       1.8배   ~63%    0.62    0.77    0.65    MV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Pretendard"/>
              </a:defRPr>
            </a:pPr>
            <a:r>
              <a:t>Commodity      8    원자재     2.0배   ~10%    0.27    0.74    0.49    MV</a:t>
            </a:r>
          </a:p>
          <a:p>
            <a:pPr>
              <a:spcAft>
                <a:spcPts val="400"/>
              </a:spcAft>
              <a:defRPr sz="1100">
                <a:solidFill>
                  <a:srgbClr val="1A1A1A"/>
                </a:solidFill>
                <a:latin typeface="Pretendard"/>
              </a:defRPr>
            </a:pPr>
            <a:r>
              <a:t>Global        13    멀티에셋   6.9배   이질적   0.27    0.49    0.67    ERC 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Pretendard"/>
              </a:defRPr>
            </a:pPr>
            <a:r>
              <a:t>핵심 패턴: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Pretendard"/>
              </a:defRPr>
            </a:pPr>
            <a:r>
              <a:t>  동질적 자산 (주식만, 원자재만) → MV 우위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Pretendard"/>
              </a:defRPr>
            </a:pPr>
            <a:r>
              <a:t>  이질적 자산 (주식+채권+원자재) → ERC 압도적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Pretendard"/>
              </a:defRPr>
            </a:pPr>
            <a:r>
              <a:t>  σ 비율(max/min)이 3~4배 이상이면 ERC가 강력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9260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왜 이질적 자산에서 ERC가 이기는가?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MV: 채권에 올인 → 주식 성장성 포기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1/n: 주식에 과다 노출 → 위기 시 폭락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ERC: 각 자산의 충격 크기를 같게 → 안전성 + 성장성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029200"/>
            <a:ext cx="10972800" cy="1371600"/>
          </a:xfrm>
          <a:prstGeom prst="rect">
            <a:avLst/>
          </a:prstGeom>
          <a:solidFill>
            <a:srgbClr val="1A1A1A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1206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  <a:latin typeface="Pretendard"/>
              </a:defRPr>
            </a:pPr>
            <a:r>
              <a:t>현실의 기관투자자 포트폴리오는 거의 항상 이질적 유니버스 (주식+채권+대체자산)</a:t>
            </a:r>
          </a:p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  <a:latin typeface="Pretendard"/>
              </a:defRPr>
            </a:pPr>
            <a:r>
              <a:t>→ 논문의 핵심 발견 "이질적 자산군에서 ERC가 강력하다"는 실무적으로 매우 중요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BBBBB"/>
                </a:solidFill>
                <a:latin typeface="Pretendard"/>
              </a:defRPr>
            </a:pPr>
            <a:r>
              <a:t>16/25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데이터 드리븐: 데이터 소스 &amp; 유니버스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Pretendard"/>
              </a:defRPr>
            </a:pPr>
            <a:r>
              <a:t>~1.5분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Pretendard"/>
              </a:defRPr>
            </a:pPr>
            <a:r>
              <a:t>13개 ETF | yfinance Adj Close | 2007.01~2018.12 (3,020일) | 252일 롤링 공분산 | 월간 리밸런싱 131회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356616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Pretendard"/>
              </a:defRPr>
            </a:pPr>
            <a:r>
              <a:t>주식 6개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SPY 미국 σ=19.75%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EWY 한국 σ=32.90%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EWJ 일본 σ=21.63%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EWU 영국 σ=24.71%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EEM 신흥국 σ=31.40%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EWH 홍콩 σ=26.21%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645920"/>
            <a:ext cx="356616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Pretendard"/>
              </a:defRPr>
            </a:pPr>
            <a:r>
              <a:t>채권 4개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10312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TLT 미국장기국채 σ=14.39%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IEF 미국중기국채 σ=6.76%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LQD 투자등급회사채 σ=8.18%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HYG 하이일드 σ=11.78%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주식-채권 상관: −43%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645920"/>
            <a:ext cx="356616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Pretendard"/>
              </a:defRPr>
            </a:pPr>
            <a:r>
              <a:t>대체 3개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10312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GLD 금 σ=18.45%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DBC 원자재 σ=19.49%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VNQ 리츠 σ=33.19%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금-주식 상관: ~3%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σ범위: 6.76~33.19% = 4.9배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572000"/>
            <a:ext cx="11430000" cy="182880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상관행렬 핵심 패턴: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  주식끼리 71~89% (동시 폭락 위험) | 주식-채권 −43% (방어 효과) | 금-주식 ~3% (독립적 리스크 소스)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  HYG(하이일드)는 채권이지만 주식과 상관 63.6% → "주식 성격의 채권" → ERC에서 비중 낮음(7.8%)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  TLT(장기국채)는 주식과 −43% → 1/n에서 RC가 음수 (포트폴리오 리스크를 줄이는 보험 역할)</a:t>
            </a:r>
          </a:p>
        </p:txBody>
      </p:sp>
      <p:pic>
        <p:nvPicPr>
          <p:cNvPr id="18" name="Picture 17" descr="chart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0"/>
            <a:ext cx="5486400" cy="21031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BBBBB"/>
                </a:solidFill>
                <a:latin typeface="Pretendard"/>
              </a:defRPr>
            </a:pPr>
            <a:r>
              <a:t>17/25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데이터 드리븐: Table 2 — 세 전략 성과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Pretendard"/>
              </a:defRPr>
            </a:pPr>
            <a:r>
              <a:t>~2분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5303520" cy="365760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  <a:latin typeface="Pretendard"/>
              </a:defRPr>
            </a:pPr>
            <a:r>
              <a:t>              1/n      MV       ERC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  <a:latin typeface="Pretendard"/>
              </a:defRPr>
            </a:pPr>
            <a:r>
              <a:t>Return      4.71%    3.32%    3.47%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  <a:latin typeface="Pretendard"/>
              </a:defRPr>
            </a:pPr>
            <a:r>
              <a:t>Volatility  13.88%   5.15%    7.98%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  <a:latin typeface="Pretendard"/>
              </a:defRPr>
            </a:pPr>
            <a:r>
              <a:t>Sharpe      0.34     0.64*    0.43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  <a:latin typeface="Pretendard"/>
              </a:defRPr>
            </a:pPr>
            <a:r>
              <a:t>DD Max     -40.34%  -14.55%  -29.23%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  <a:latin typeface="Pretendard"/>
              </a:defRPr>
            </a:pPr>
            <a:r>
              <a:t>G_w         0.00%   81.96%   38.02%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  <a:latin typeface="Pretendard"/>
              </a:defRPr>
            </a:pPr>
            <a:r>
              <a:t>G_rc       42.64%   81.96%    0.27%*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  <a:latin typeface="Pretendard"/>
              </a:defRPr>
            </a:pPr>
            <a:r>
              <a:t>Turnover    0.00%   10.85%    5.96%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  <a:latin typeface="Pretendard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  <a:latin typeface="Pretendard"/>
              </a:defRPr>
            </a:pPr>
            <a:r>
              <a:t>부등식: 5.15% &lt;= 7.98% &lt;= 13.88%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058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1억 원 투자 시: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1/n: 13개 ETF에 각 770만원 → 리스크는 주식에 몰림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MV: IEF에 5,760만원 → 사실상 미국 국채 펀드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ERC: IEF 2,980만원, TLT 1,310만원...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     모든 자산이 리스크의 7.69%씩 기여하도록 조절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474720"/>
            <a:ext cx="5303520" cy="292608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56616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MV 샤프 0.64 최고인 이유: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2008 위기 첫 해에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SPY -37%, EWY -55% 폭락할 때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IEF +18% 상승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→ MV의 채권 집중이 극도로 유리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→ 이 한 해의 차이가 11년 전체 샤프를 결정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핵심은 샤프 순위가 아니라 구조적 성질: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부등식 항상 성립, RC Gini~0, 턴오버 절반</a:t>
            </a:r>
          </a:p>
        </p:txBody>
      </p:sp>
      <p:pic>
        <p:nvPicPr>
          <p:cNvPr id="10" name="Picture 9" descr="img_tabl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846320"/>
            <a:ext cx="530352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BBBBB"/>
                </a:solidFill>
                <a:latin typeface="Pretendard"/>
              </a:defRPr>
            </a:pPr>
            <a:r>
              <a:t>18/25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데이터 드리븐: Figure 1 재현 — Weights &amp; RC 박스플롯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Pretendard"/>
              </a:defRPr>
            </a:pPr>
            <a:r>
              <a:t>~1.5분</a:t>
            </a:r>
          </a:p>
        </p:txBody>
      </p:sp>
      <p:pic>
        <p:nvPicPr>
          <p:cNvPr id="5" name="Picture 4" descr="img_fig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66928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17920" y="1005840"/>
            <a:ext cx="5303520" cy="228600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4937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핵심 관찰 (논문 Figure 1과 동일한 패턴):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1/n Weights: 모든 자산 7.69% 수평선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MV Weights: IEF에 25~81% 극단 집중, EWY/EEM ~ 0%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ERC Weights: IEF 15~54%, 나머지 2~19%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1/n RC: EEM 16%, TLT -7% → 극도로 불균등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  → 돈은 균등한데 리스크는 한쪽에 몰림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ERC RC: 모든 자산 ~7.69% → 완벽한 수평선!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  → 가중치는 시장에 따라 변하지만 RC는 항상 균등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자산군별 ERC: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  채권: 자본 63% → 리스크 31% (=4/13)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  주식: 자본 22% → 리스크 46% (=6/13)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  → 돈은 불균등, 리스크는 균등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TLT RC가 음수인 이유: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  주식과 -43% 상관 → 포트폴리오 리스크를 줄이는 보험</a:t>
            </a:r>
          </a:p>
        </p:txBody>
      </p:sp>
      <p:pic>
        <p:nvPicPr>
          <p:cNvPr id="8" name="Picture 7" descr="chart_box_weigh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474720"/>
            <a:ext cx="5303520" cy="1463040"/>
          </a:xfrm>
          <a:prstGeom prst="rect">
            <a:avLst/>
          </a:prstGeom>
        </p:spPr>
      </p:pic>
      <p:pic>
        <p:nvPicPr>
          <p:cNvPr id="9" name="Picture 8" descr="chart_box_r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5029200"/>
            <a:ext cx="5303520" cy="1463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BBBBB"/>
                </a:solidFill>
                <a:latin typeface="Pretendard"/>
              </a:defRPr>
            </a:pPr>
            <a:r>
              <a:t>19/25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데이터 드리븐: 누적 수익률 시계열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Pretendard"/>
              </a:defRPr>
            </a:pPr>
            <a:r>
              <a:t>~1.5분</a:t>
            </a:r>
          </a:p>
        </p:txBody>
      </p:sp>
      <p:pic>
        <p:nvPicPr>
          <p:cNvPr id="5" name="Picture 4" descr="img_figur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669280" cy="3200400"/>
          </a:xfrm>
          <a:prstGeom prst="rect">
            <a:avLst/>
          </a:prstGeom>
        </p:spPr>
      </p:pic>
      <p:pic>
        <p:nvPicPr>
          <p:cNvPr id="6" name="Picture 5" descr="chart_cumr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389120"/>
            <a:ext cx="5669280" cy="2286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17920" y="1005840"/>
            <a:ext cx="5303520" cy="320040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2008 위기 타임라인: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9월 리먼 파산 →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  1/n: 100→66 (-34%)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  SPY -37%, EWY -55%, VNQ -72% 동시 폭락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  MV: 100→89 (-11%)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  IEF +18% 상승 → 채권 집중이 방어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  ERC: 100→79 (-21%)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  채권이 방어하지만 주식도 보유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최종 (2018.12):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Pretendard"/>
              </a:defRPr>
            </a:pPr>
            <a:r>
              <a:t>  1/n 150.6, MV 141.5, ERC 141.1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389120"/>
            <a:ext cx="11338560" cy="228600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48056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핵심: 세 전략의 경로가 다르다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1/n: 롤러코스터 (급등락) — -40% 폭락 경험 → 대부분 패닉 매도 → 회복 수혜 못 받음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MV: 거의 직선 (안정적이지만 수익률 낮음)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ERC: 중간 — -29%로 견딜 만함 + 회복도 합리적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레버리지 적용 시: ERC x 1.74배 → 1/n과 동일 변동성에서 수익률 6.04% &gt; 1/n 4.71%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BBBBB"/>
                </a:solidFill>
                <a:latin typeface="Pretendard"/>
              </a:defRPr>
            </a:pPr>
            <a:r>
              <a:t>20/25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데이터 드리븐 vs 논문: 비교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Pretendard"/>
              </a:defRPr>
            </a:pPr>
            <a:r>
              <a:t>~1.5분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0972800" cy="182880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1A1A"/>
                </a:solidFill>
                <a:latin typeface="Pretendard"/>
              </a:defRPr>
            </a:pPr>
            <a:r>
              <a:t>              논문 Global (1995-2008)          내 ETF (2008-2018)</a:t>
            </a:r>
          </a:p>
          <a:p>
            <a:pPr>
              <a:spcAft>
                <a:spcPts val="300"/>
              </a:spcAft>
              <a:defRPr sz="1100">
                <a:solidFill>
                  <a:srgbClr val="1A1A1A"/>
                </a:solidFill>
                <a:latin typeface="Pretendard"/>
              </a:defRPr>
            </a:pPr>
            <a:r>
              <a:t>              1/n    MV     ERC               1/n    MV     ERC</a:t>
            </a:r>
          </a:p>
          <a:p>
            <a:pPr>
              <a:spcAft>
                <a:spcPts val="300"/>
              </a:spcAft>
              <a:defRPr sz="1100">
                <a:solidFill>
                  <a:srgbClr val="1A1A1A"/>
                </a:solidFill>
                <a:latin typeface="Pretendard"/>
              </a:defRPr>
            </a:pPr>
            <a:r>
              <a:t>Return      7.83%  5.42%  6.65%             4.71%  3.32%  3.47%</a:t>
            </a:r>
          </a:p>
          <a:p>
            <a:pPr>
              <a:spcAft>
                <a:spcPts val="300"/>
              </a:spcAft>
              <a:defRPr sz="1100">
                <a:solidFill>
                  <a:srgbClr val="1A1A1A"/>
                </a:solidFill>
                <a:latin typeface="Pretendard"/>
              </a:defRPr>
            </a:pPr>
            <a:r>
              <a:t>Volatility  10.87%  3.20%  4.92%            13.88%  5.15%  7.98%</a:t>
            </a:r>
          </a:p>
          <a:p>
            <a:pPr>
              <a:spcAft>
                <a:spcPts val="300"/>
              </a:spcAft>
              <a:defRPr sz="1100">
                <a:solidFill>
                  <a:srgbClr val="1A1A1A"/>
                </a:solidFill>
                <a:latin typeface="Pretendard"/>
              </a:defRPr>
            </a:pPr>
            <a:r>
              <a:t>Sharpe      0.27   0.49   0.67*             0.34   0.64*  0.43</a:t>
            </a:r>
          </a:p>
          <a:p>
            <a:pPr>
              <a:spcAft>
                <a:spcPts val="300"/>
              </a:spcAft>
              <a:defRPr sz="1100">
                <a:solidFill>
                  <a:srgbClr val="1A1A1A"/>
                </a:solidFill>
                <a:latin typeface="Pretendard"/>
              </a:defRPr>
            </a:pPr>
            <a:r>
              <a:t>DD Max     -33.73% -8.96% -14.45%          -40.34% -14.55% -29.23%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차이: 샤프 순위가 다름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논문: ERC 0.67 최고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내 데이터: MV 0.64 최고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원인: 백테스트 시작 시점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내 데이터 = 2008 위기 직전 → MV 채권 집중 유리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논문 = 1995년 시작 → 위기 전 상승장이 ERC에 유리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017520"/>
            <a:ext cx="5303520" cy="182880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1089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공통점 (더 중요!) — 5가지 구조적 성질: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1. 부등식 항상 성립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2. ERC RC Gini ~ 0%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3. MV 가중치 Gini &gt; 79%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4. ERC 턴오버 ~ MV의 절반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5. 이질적 자산군에서 ERC &gt; 1/n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029200"/>
            <a:ext cx="10972800" cy="1371600"/>
          </a:xfrm>
          <a:prstGeom prst="rect">
            <a:avLst/>
          </a:prstGeom>
          <a:solidFill>
            <a:srgbClr val="1A1A1A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Pretendard"/>
              </a:defRPr>
            </a:pPr>
            <a:r>
              <a:t>결론: 샤프 순위는 기간에 따라 달라질 수 있지만, ERC의 구조적 성질은 시장 환경에 무관하게 보편적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Pretendard"/>
              </a:defRPr>
            </a:pPr>
            <a:r>
              <a:t>기간별: 위기(2008~09) → MV 압도적 | 회복(2009~13) → 1/n 우위 | 저변동성(2014~18) → MV 우위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Pretendard"/>
              </a:defRPr>
            </a:pPr>
            <a:r>
              <a:t>ERC는 모든 기간에서 중간 — "전천후" 전략의 본질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BBBBB"/>
                </a:solidFill>
                <a:latin typeface="Pretendard"/>
              </a:defRPr>
            </a:pPr>
            <a:r>
              <a:t>21/25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데이터 드리븐: 가중치 &amp; RC 시계열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Pretendard"/>
              </a:defRPr>
            </a:pPr>
            <a:r>
              <a:t>~1분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ERC 가중치 시계열 (131회 리밸런싱):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IEF(미국 중기국채): 15~54% — 변동성 최저(6.76%)이므로 비중 최고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TLT(미국 장기국채): 7~24%  |  LQD(투자등급 회사채): 7~19%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주식 ETF들: 각각 2~10% — 낮은 비중이지만 완전히 배제되지 않음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GLD(금): 3~21% — 시장 환경에 따라 변동 큼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자동 방어 메커니즘: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2008 위기 → 주식 변동성 급등 → ERC가 자동으로 채권 비중 높임 (IEF 54%까지)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2014~17 저변동성기 → 주식 비중 상대적으로 높아짐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→ 별도의 위기 감지 모델 없이 공분산 변화에 반응하여 리스크 재배분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114800"/>
            <a:ext cx="10972800" cy="228600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07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ERC RC 시계열 — 핵심: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ERC(초록 실선): 모든 자산이 ~7.69%(=1/13)로 거의 완벽한 수평선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가중치는 IEF 15~54%로 크게 변동하지만, RC는 항상 균등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→ "가중치가 아니라 리스크를 균등화한다" = ERC의 본질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1/n RC(점선): 신흥국 EEM 16%, 미국 장기국채 TLT -1.3%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Pretendard"/>
              </a:defRPr>
            </a:pPr>
            <a:r>
              <a:t>  → 1/n에서 포트폴리오가 빠지는 날의 손실 대부분이 고변동성 주식에서 옴</a:t>
            </a:r>
          </a:p>
        </p:txBody>
      </p:sp>
      <p:pic>
        <p:nvPicPr>
          <p:cNvPr id="8" name="Picture 7" descr="chart_weight_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05840"/>
            <a:ext cx="5486400" cy="2743200"/>
          </a:xfrm>
          <a:prstGeom prst="rect">
            <a:avLst/>
          </a:prstGeom>
        </p:spPr>
      </p:pic>
      <p:pic>
        <p:nvPicPr>
          <p:cNvPr id="9" name="Picture 8" descr="chart_rc_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005840"/>
            <a:ext cx="5486400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BBBBB"/>
                </a:solidFill>
                <a:latin typeface="Pretendard"/>
              </a:defRPr>
            </a:pPr>
            <a:r>
              <a:t>22/25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§5 Conclusion: 논문의 결론 &amp; 내 실증의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Pretendard"/>
              </a:defRPr>
            </a:pPr>
            <a:r>
              <a:t>논문의 핵심 기여 5가지: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Pretendard"/>
              </a:defRPr>
            </a:pPr>
            <a:r>
              <a:t>1. 수학적 정의: σᵢ(x) = σⱼ(x) for all i,j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Pretendard"/>
              </a:defRPr>
            </a:pPr>
            <a:r>
              <a:t>2. 닫힌 해: 2자산 x₁=σ₂/(σ₁+σ₂), 상관에 무관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Pretendard"/>
              </a:defRPr>
            </a:pPr>
            <a:r>
              <a:t>3. 수치 최적화: 식(6) 직접 + 식(7) 볼록 변환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Pretendard"/>
              </a:defRPr>
            </a:pPr>
            <a:r>
              <a:t>4. 부등식: σ_MV ≤ σ_ERC ≤ σ_1/n (항상 성립)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Pretendard"/>
              </a:defRPr>
            </a:pPr>
            <a:r>
              <a:t>5. 이질적 자산군에서 ERC 샤프 최고 (0.67)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Pretendard"/>
              </a:defRPr>
            </a:pPr>
            <a:r>
              <a:t>내 실증이 확인한 것: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Pretendard"/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Pretendard"/>
              </a:defRPr>
            </a:pPr>
            <a:r>
              <a:t>OK  부등식 5.15% &lt;= 7.98% &lt;= 13.88% 성립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Pretendard"/>
              </a:defRPr>
            </a:pPr>
            <a:r>
              <a:t>OK  ERC RC Gini 0.27% ~ 0 (완벽 균등)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Pretendard"/>
              </a:defRPr>
            </a:pPr>
            <a:r>
              <a:t>OK  MV 가중치 Gini 82% (극단적 집중)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Pretendard"/>
              </a:defRPr>
            </a:pPr>
            <a:r>
              <a:t>OK  ERC 턴오버 5.96% = MV의 절반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Pretendard"/>
              </a:defRPr>
            </a:pPr>
            <a:r>
              <a:t>OK  ERC 샤프 0.43 &gt; 1/n 0.34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한계: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· 거래비용 미반영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· 공분산 추정 오류 영향 미분석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· 레버리지 미고려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· 변동성만 사용 (왜도/첨도 무시)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931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후속 연구 &amp; 실무: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· Roncalli (2013): 유일성 증명, 리스크 버짓팅 교과서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· Bridgewater All Weather: AUM $150B+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· AQR Risk Parity, Invesco Balanced-Risk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· Lopez de Prado (2016): Hierarchical Risk Parity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Pretendard"/>
              </a:defRPr>
            </a:pPr>
            <a:r>
              <a:t>  · 한국: 국민연금, 사학연금 부분 도입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BBBBB"/>
                </a:solidFill>
                <a:latin typeface="Pretendard"/>
              </a:defRPr>
            </a:pPr>
            <a:r>
              <a:t>23/25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Q&amp;A 예상 질문 &amp; 답변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486400" cy="164592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Pretendard"/>
              </a:defRPr>
            </a:pPr>
            <a:r>
              <a:t>Q1: 논문은 ERC 최고인데 왜 내 데이터는 MV?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555555"/>
                </a:solidFill>
                <a:latin typeface="Pretendard"/>
              </a:defRPr>
            </a:pPr>
            <a:r>
              <a:t>백테스트 시작 시점 차이. 2008 위기 직전 시작 → MV 채권 집중 유리. 구조적 성질은 동일.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05840"/>
            <a:ext cx="5486400" cy="164592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Pretendard"/>
              </a:defRPr>
            </a:pPr>
            <a:r>
              <a:t>Q2: ERC가 MV보다 항상 좋은가?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4630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555555"/>
                </a:solidFill>
                <a:latin typeface="Pretendard"/>
              </a:defRPr>
            </a:pPr>
            <a:r>
              <a:t>아니다. 동질적 자산(주식만)에서는 MV 유리. ERC는 이질적 자산(주식+채권+대체)에서 강하다.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34640"/>
            <a:ext cx="5486400" cy="164592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9260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Pretendard"/>
              </a:defRPr>
            </a:pPr>
            <a:r>
              <a:t>Q3: Risk Parity와 ERC는 같은가?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918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555555"/>
                </a:solidFill>
                <a:latin typeface="Pretendard"/>
              </a:defRPr>
            </a:pPr>
            <a:r>
              <a:t>ERC = Risk Parity의 수학적 정의. 실무에서 Risk Parity = ERC + 레버리지.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834640"/>
            <a:ext cx="5486400" cy="164592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9260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Pretendard"/>
              </a:defRPr>
            </a:pPr>
            <a:r>
              <a:t>Q4: MV가 IEF에 57.6% 집중하는 건 문제?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2918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555555"/>
                </a:solidFill>
                <a:latin typeface="Pretendard"/>
              </a:defRPr>
            </a:pPr>
            <a:r>
              <a:t>맞다. Gini 82%. 단일 자산에 57% 넣는 것은 실무적으로 수용 불가.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663440"/>
            <a:ext cx="5486400" cy="164592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7548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Pretendard"/>
              </a:defRPr>
            </a:pPr>
            <a:r>
              <a:t>Q5: 60/40과 ERC의 차이는?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1206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555555"/>
                </a:solidFill>
                <a:latin typeface="Pretendard"/>
              </a:defRPr>
            </a:pPr>
            <a:r>
              <a:t>60/40: 자본 6:4, 리스크 110:-10 → 사실상 주식 올인. ERC: 리스크 50:50 → 진짜 분산.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663440"/>
            <a:ext cx="5486400" cy="1645920"/>
          </a:xfrm>
          <a:prstGeom prst="rect">
            <a:avLst/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7548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Pretendard"/>
              </a:defRPr>
            </a:pPr>
            <a:r>
              <a:t>Q6: 레버리지 적용하면?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51206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555555"/>
                </a:solidFill>
                <a:latin typeface="Pretendard"/>
              </a:defRPr>
            </a:pPr>
            <a:r>
              <a:t>ERC x 1.74배 → 1/n과 동일 변동성에서 수익률 6.04% &gt; 4.71%. Bridgewater 방식.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BBBBB"/>
                </a:solidFill>
                <a:latin typeface="Pretendard"/>
              </a:defRPr>
            </a:pPr>
            <a:r>
              <a:t>24/25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Pretendard"/>
              </a:defRPr>
            </a:pPr>
            <a:r>
              <a:t>"돈이 아니라</a:t>
            </a:r>
            <a:br/>
            <a:r>
              <a:t>리스크를 나눠라"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BBBBB"/>
                </a:solidFill>
                <a:latin typeface="Pretendard"/>
              </a:defRPr>
            </a:pPr>
            <a:r>
              <a:t>1/n의 문제: 돈은 균등, 리스크는 불균등 — 주식 빠지면 포트폴리오도 빠짐</a:t>
            </a:r>
          </a:p>
          <a:p>
            <a:pPr>
              <a:spcAft>
                <a:spcPts val="600"/>
              </a:spcAft>
              <a:defRPr sz="1600">
                <a:solidFill>
                  <a:srgbClr val="BBBBBB"/>
                </a:solidFill>
                <a:latin typeface="Pretendard"/>
              </a:defRPr>
            </a:pPr>
            <a:r>
              <a:t>MV의 문제: 리스크 최소화하지만 한두 자산에 올인 — 사실상 채권 펀드</a:t>
            </a:r>
          </a:p>
          <a:p>
            <a:pPr>
              <a:spcAft>
                <a:spcPts val="600"/>
              </a:spcAft>
              <a:defRPr sz="1600">
                <a:solidFill>
                  <a:srgbClr val="BBBBBB"/>
                </a:solidFill>
                <a:latin typeface="Pretendard"/>
              </a:defRPr>
            </a:pPr>
            <a:r>
              <a:t>ERC의 해답: 리스크를 균등하게 나눔 — 어떤 자산이 빠져도 충격 비슷</a:t>
            </a:r>
          </a:p>
          <a:p>
            <a:pPr>
              <a:spcAft>
                <a:spcPts val="600"/>
              </a:spcAft>
              <a:defRPr sz="1600">
                <a:solidFill>
                  <a:srgbClr val="BBBBBB"/>
                </a:solidFill>
                <a:latin typeface="Pretendard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BBBBBB"/>
                </a:solidFill>
                <a:latin typeface="Pretendard"/>
              </a:defRPr>
            </a:pPr>
            <a:r>
              <a:t>이질적 자산군에서 ERC가 가장 강력  ·  σ_MV ≤ σ_ERC ≤ σ_1/n 항상 성립</a:t>
            </a:r>
          </a:p>
          <a:p>
            <a:pPr>
              <a:spcAft>
                <a:spcPts val="600"/>
              </a:spcAft>
              <a:defRPr sz="1600">
                <a:solidFill>
                  <a:srgbClr val="BBBBBB"/>
                </a:solidFill>
                <a:latin typeface="Pretendard"/>
              </a:defRPr>
            </a:pPr>
            <a:r>
              <a:t>Bridgewater All Weather ($150B+)의 수학적 기초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BBBBB"/>
                </a:solidFill>
                <a:latin typeface="Pretendard"/>
              </a:defRPr>
            </a:pPr>
            <a:r>
              <a:t>25/25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