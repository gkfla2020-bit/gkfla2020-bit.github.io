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On the Properties of Equally-Weighted</a:t>
            </a:r>
            <a:br/>
            <a:r>
              <a:t>Risk Contributions Portfolios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</a:defRPr>
            </a:pPr>
            <a:r>
              <a:t>Maillard, Roncalli &amp; Teiletche (2009)  |  Journal of Portfolio Management, 36(4)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</a:defRPr>
            </a:pPr>
            <a:r>
              <a:t>논문 전문 리뷰 &amp; 데이터 드리븐 실증 분석</a:t>
            </a:r>
            <a:br/>
            <a:r>
              <a:t>글로벌 멀티에셋 ETF 13종 (미국·한국·일본·영국·신흥국·홍콩 주식 + 미국 국채·회사채 + 금·원자재·리츠)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</a:defRPr>
            </a:pPr>
            <a:r>
              <a:t>2026.04.14  |  30분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§1 Introduction: 이 논문이 풀려는 문제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~2분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</a:defRPr>
            </a:pPr>
            <a:r>
              <a:t>핵심 질문: 포트폴리오를 어떻게 짜야 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Markowitz 최적화: 미래 수익률을 알면 최적 비중 계산 가능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→ 문제: 미래 수익률을 아무도 모름. 추정치 0.1% 변경 → 비중 완전 뒤집힘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1/n (동일가중): 아무것도 모르니까 다 똑같이 넣자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→ 문제: 삼성전자(σ=30%)와 국채(σ=7%)에 같은 돈 → 리스크는 한쪽에 몰림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MV (최소분산): 변동성을 최소화하자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→ 문제: 국채에 90% 집중 → 사실상 채권 펀드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5303520" cy="13716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2E7D32"/>
                </a:solidFill>
              </a:defRPr>
            </a:pPr>
            <a:r>
              <a:t>ERC = 제3의 방법</a:t>
            </a:r>
            <a:br/>
            <a:r>
              <a:t>"돈이 아니라 리스크를 균등하게 나누자"</a:t>
            </a:r>
            <a:br/>
            <a:r>
              <a:t>변동성이 큰 자산은 비중↓, 작은 자산은 비중↑</a:t>
            </a:r>
            <a:br/>
            <a:r>
              <a:t>→ 각 자산의 리스크 기여도를 같게 만든다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2008 금융위기가 전환점</a:t>
            </a:r>
            <a:br/>
            <a:r>
              <a:t>• 60/40 포트폴리오: 자본 6:4인데 리스크 기여도 110:−10</a:t>
            </a:r>
            <a:br/>
            <a:r>
              <a:t>• S&amp;P 500 −57% 폭락 → 60/40도 −30% 하락</a:t>
            </a:r>
            <a:br/>
            <a:r>
              <a:t>• "분산 투자"라고 생각했는데 실제로는 주식 올인</a:t>
            </a:r>
            <a:br/>
            <a:r>
              <a:t>• Bridgewater All Weather: 같은 위기에서 −3.9%만 하락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00400"/>
            <a:ext cx="5303520" cy="2743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2008 금융위기 S&amp;P 500 차트</a:t>
            </a:r>
            <a:br/>
            <a:r>
              <a:t>또는 60/40 vs ERC 리스크 기여도 비교 그림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§2.1 리스크 기여도(Risk Contributions)의 정의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~2분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수식이 의미하는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σᵢ(x) = xᵢ · (Σx)ᵢ / σ(x)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(Σx)ᵢ = "자산 i가 포트폴리오 전체와 얼마나 같이 움직이는가"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xᵢ = 현재 비중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σᵢ(x) = "이 자산이 실제로 포트폴리오 변동성에 얼마나 기여하는가"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5303520" cy="22860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핵심 예시: 주식 50% + 채권 50%</a:t>
            </a:r>
            <a:br/>
            <a:r>
              <a:t>• 돈은 반반이지만</a:t>
            </a:r>
            <a:br/>
            <a:r>
              <a:t>• 주식이 하루 2% 움직이고 채권이 0.3% 움직이면</a:t>
            </a:r>
            <a:br/>
            <a:r>
              <a:t>• 포트폴리오 일간 손익의 거의 전부가 주식에서 옴</a:t>
            </a:r>
            <a:br/>
            <a:r>
              <a:t>• 리스크 기여도: 주식 94% vs 채권 6%</a:t>
            </a:r>
            <a:br/>
            <a:r>
              <a:t>• → "분산 투자"가 아니라 사실상 주식 올인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</a:defRPr>
            </a:pPr>
            <a:r>
              <a:t>오일러 정리에 의한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σ(x) = Σᵢ σᵢ(x)  ← 수학적 등식 (근사 아님)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포트폴리오 전체 리스크 = 각 자산의 RC 합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→ "SPY가 리스크의 15%, IEF가 8%" 정확히 분해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5303520" cy="10972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ERC 조건: cᵢ = σᵢ/σ = 1/n  ∀i</a:t>
            </a:r>
            <a:br/>
            <a:r>
              <a:t>→ 모든 자산이 전체 리스크의 정확히 1/n씩 기여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480560"/>
            <a:ext cx="5303520" cy="201168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60/40 vs ERC 리스크 기여도 파이차트</a:t>
            </a:r>
            <a:br/>
            <a:r>
              <a:t>주식 RC 110% vs 50%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§2.2 세 전략의 비교: 1/n vs MV vs ERC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</a:defRPr>
            </a:pPr>
            <a:r>
              <a:t>1/n (동일가중)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3474720" cy="3200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조건: xᵢ = 1/n</a:t>
            </a:r>
            <a:br/>
            <a:r>
              <a:t>"모든 자산에 같은 돈"</a:t>
            </a:r>
            <a:br/>
            <a:r>
              <a:t>주식 −2%, 채권 +0.3%일 때</a:t>
            </a:r>
            <a:br/>
            <a:r>
              <a:t>→ 포트폴리오 −0.85%</a:t>
            </a:r>
            <a:br/>
            <a:r>
              <a:t>→ 손실의 거의 전부가 주식</a:t>
            </a:r>
            <a:br/>
            <a:r>
              <a:t>자본의 민주주의</a:t>
            </a:r>
            <a:br/>
            <a:r>
              <a:t>리스크의 독재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</a:defRPr>
            </a:pPr>
            <a:r>
              <a:t>MV (최소분산)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3474720" cy="32004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조건: ∂σ/∂xᵢ = ∂σ/∂xⱼ</a:t>
            </a:r>
            <a:br/>
            <a:r>
              <a:t>"추가 1원 넣어도 리스크 증가 같다"</a:t>
            </a:r>
            <a:br/>
            <a:r>
              <a:t>→ 채권에 94% 집중</a:t>
            </a:r>
            <a:br/>
            <a:r>
              <a:t>같은 날 포트폴리오 +0.16%</a:t>
            </a:r>
            <a:br/>
            <a:r>
              <a:t>상승장에서도 +0.4%밖에 안됨</a:t>
            </a:r>
            <a:br/>
            <a:r>
              <a:t>사실상 채권 펀드</a:t>
            </a:r>
            <a:br/>
            <a:r>
              <a:t>리스크의 독재 (다른 방향)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ERC (리스크 균등)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32004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조건: xᵢ(Σx)ᵢ = xⱼ(Σx)ⱼ</a:t>
            </a:r>
            <a:br/>
            <a:r>
              <a:t>"각 자산의 리스크 기여도가 같다"</a:t>
            </a:r>
            <a:br/>
            <a:r>
              <a:t>→ 주식 20%, 채권 80%</a:t>
            </a:r>
            <a:br/>
            <a:r>
              <a:t>같은 날 포트폴리오 −0.16%</a:t>
            </a:r>
            <a:br/>
            <a:r>
              <a:t>주식 −0.08%, 채권 −0.08%</a:t>
            </a:r>
            <a:br/>
            <a:r>
              <a:t>위기 시 한쪽에 안 몰림</a:t>
            </a:r>
            <a:br/>
            <a:r>
              <a:t>리스크의 민주주의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20640"/>
            <a:ext cx="114300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수치 예시: 주식(σ=20%) + 채권(σ=5%), ρ=0</a:t>
            </a:r>
            <a:br/>
            <a:r>
              <a:t>1/n: 비중 50:50, RC 94:6, σ=10.31%  |  MV: 비중 6:94, σ=4.85%  |  ERC: 비중 20:80, RC 50:50, σ=5.66%</a:t>
            </a:r>
            <a:br/>
            <a:r>
              <a:t>부등식: σ_MV(4.85%) ≤ σ_ERC(5.66%) ≤ σ_1/n(10.31%)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§3.1 2자산 닫힌 해: 변동성 역수 가중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x₁* = σ₂ / (σ₁ + σ₂)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삼성전자(σ=30%) + 미국 국채(σ=7%)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→ 삼성전자 비중 = 7/(30+7) = 19%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→ 국채 비중 = 30/(30+7) = 81%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변동성이 큰 자산은 비중↓, 작은 자산은 비중↑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5303520" cy="137160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C62828"/>
                </a:solidFill>
              </a:defRPr>
            </a:pPr>
            <a:r>
              <a:t>놀라운 성질: 상관계수에 완전히 무관!</a:t>
            </a:r>
            <a:br/>
            <a:r>
              <a:t>삼성전자-국채 상관이 −0.5이든 0이든 +0.5이든</a:t>
            </a:r>
            <a:br/>
            <a:r>
              <a:t>ERC 비중은 항상 19:81</a:t>
            </a:r>
            <a:br/>
            <a:r>
              <a:t>→ 상관 추정이 틀려도 ERC 비중은 변하지 않음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</a:defRPr>
            </a:pPr>
            <a:r>
              <a:t>ERC vs MV: 상관에 따른 비중 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03520" cy="22860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2자산 ERC vs MV 상관 민감도 차트</a:t>
            </a:r>
            <a:br/>
            <a:r>
              <a:t>ERC=수평선(초록), MV=곡선(주황)</a:t>
            </a:r>
            <a:br/>
            <a:r>
              <a:t>→ presentation/erc_30min.html의 plotly-2asset 차트 캡처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3035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σ₁=10%, σ₂=20% 수치 예제</a:t>
            </a:r>
            <a:br/>
            <a:r>
              <a:t>ρ=0.0: ERC 66.7%, MV 80.0%</a:t>
            </a:r>
            <a:br/>
            <a:r>
              <a:t>ρ=0.5: ERC 66.7%, MV 75.0%</a:t>
            </a:r>
            <a:br/>
            <a:r>
              <a:t>ρ=0.9: ERC 66.7%, MV 62.5%</a:t>
            </a:r>
            <a:br/>
            <a:r>
              <a:t>→ ERC는 항상 66.7%, MV는 62.5~85.7% 변동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§3.2 등상관 케이스: 변동성 역수 가중의 n자산 확장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xᵢ* = σᵢ⁻¹ / Σⱼ σⱼ⁻¹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모든 자산 쌍의 상관이 같으면 (ρᵢⱼ = ρ ∀i≠j)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→ ERC 비중 = 변동성의 역수에 비례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IEF(σ=6.76%): 역수 0.148 → 비중 높음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VNQ(σ=33.19%): 역수 0.030 → 비중 낮음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→ IEF 비중이 VNQ의 약 5배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최적화 없이 변동성만 알면 즉시 계산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530352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의미: IEF가 하루 0.4% 움직이고 VNQ가 2% 움직이면,</a:t>
            </a:r>
            <a:br/>
            <a:r>
              <a:t>IEF에 많은 돈, VNQ에 적은 돈을 넣어서</a:t>
            </a:r>
            <a:br/>
            <a:r>
              <a:t>두 자산이 포트폴리오에 주는 "충격의 크기"를 같게 만듦</a:t>
            </a:r>
            <a:br/>
            <a:r>
              <a:t>→ Inverse Volatility Weighting = ERC의 간편 버전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035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학술적 발견: ρ → −1/(n−1) 일 때 MV = ERC</a:t>
            </a:r>
            <a:br/>
            <a:r>
              <a:t>"모든 자산이 최대한 반대로 움직이는" 극단적 분산 상황</a:t>
            </a:r>
            <a:br/>
            <a:r>
              <a:t>→ 분산 효과 극대화 시 "리스크 최소화" = "리스크 균등화"</a:t>
            </a:r>
            <a:br/>
            <a:r>
              <a:t>→ ERC는 "분산 효과가 극대화된 MV"로 해석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등변동성 + 이상관 케이스 (식 4')</a:t>
            </a:r>
            <a:br/>
            <a:r>
              <a:t>→ 다른 자산과의 상관이 낮은 자산일수록 비중↑</a:t>
            </a:r>
            <a:br/>
            <a:r>
              <a:t>→ 금(GLD)이 주식과 거의 무상관(2.8%)이라</a:t>
            </a:r>
            <a:br/>
            <a:r>
              <a:t>   ERC에서 높은 비중을 받는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§3.3-3.4 일반적 경우: 베타 역수 가중 &amp; 수치 최적화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~2분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xᵢ* = βᵢ⁻¹ / Σⱼ βⱼ⁻¹    (βᵢ = (Σx*)ᵢ / σ(x*))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βᵢ = "자산 i가 ERC 포트폴리오와 얼마나 같이 움직이는가"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포트폴리오가 빠질 때 같이 많이 빠지는 자산(높은 β) → 비중↓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덜 빠지거나 반대로 움직이는 자산(낮은 β) → 비중↑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예: 한국 주식 EWY (높은 β) → 비중 2.3%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    금 GLD (낮은 β, 독립적) → 비중 9.2%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수치 최적화: 논문 식 (6)</a:t>
            </a:r>
            <a:br/>
            <a:r>
              <a:t>f(x) = ΣᵢΣⱼ(xᵢ(Σx)ᵢ − xⱼ(Σx)ⱼ)²</a:t>
            </a:r>
            <a:br/>
            <a:r>
              <a:t>= "모든 자산 쌍의 RC 차이를 0으로 만들어라"</a:t>
            </a:r>
            <a:br/>
            <a:r>
              <a:t>f(x*)=0 → 모든 자산의 RC가 같다 = ERC 조건</a:t>
            </a:r>
            <a:br/>
            <a:r>
              <a:t>scipy SLSQP, 초기값 1/n → 131회 모두 수렴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3035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식 (7) 볼록 변환: 전역 최적 보장</a:t>
            </a:r>
            <a:br/>
            <a:r>
              <a:t>하지만 구현 복잡 → 논문 저자들도 식 (6) 선호</a:t>
            </a:r>
            <a:br/>
            <a:r>
              <a:t>실무에서도 식 (6)이 표준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89120"/>
            <a:ext cx="10972800" cy="201168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Python 코드 스크린샷 (erc_objective 함수)</a:t>
            </a:r>
            <a:br/>
            <a:r>
              <a:t>또는 최적화 수렴 과정 그래프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§3.5 ERC는 언제 최적인가?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모든 자산의 기대수익률이 같을 때 → ERC = Maximum Sharpe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ERC의 암묵적 가정: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"기대수익률을 모르면 다 같다고 가정하는 게 합리적"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주식이 연 8% 오를지 5% 오를지 아무도 모름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잘못된 추정으로 MV 최적화가 폭발하는 것보다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"다 같다"고 가정하고 리스크만 균등화하는 게 안전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53035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2E7D32"/>
                </a:solidFill>
              </a:defRPr>
            </a:pPr>
            <a:r>
              <a:t>ERC의 철학:</a:t>
            </a:r>
            <a:br/>
            <a:r>
              <a:t>"미래 수익률은 모르지만, 리스크는 측정할 수 있다.</a:t>
            </a:r>
            <a:br/>
            <a:r>
              <a:t>그러니 리스크만 관리하자."</a:t>
            </a:r>
            <a:br/>
            <a:br/>
            <a:r>
              <a:t>Bridgewater All Weather가 이 철학을 구현</a:t>
            </a:r>
            <a:br/>
            <a:r>
              <a:t>2008 위기: All Weather −3.9% vs 60/40 −30%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30352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효율적 프론티어 위의 ERC 위치</a:t>
            </a:r>
            <a:br/>
            <a:r>
              <a:t>• 기대수익률이 같으면 → 프론티어 위 (최적)</a:t>
            </a:r>
            <a:br/>
            <a:r>
              <a:t>• 기대수익률이 다르면 → 프론티어 아래</a:t>
            </a:r>
            <a:br/>
            <a:r>
              <a:t>• 하지만 프론티어 자체가 추정 오류에 극도로 민감</a:t>
            </a:r>
            <a:br/>
            <a:r>
              <a:t>• "이론적 최적"보다 "강건한 차선"이 실무에서 더 좋음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효율적 프론티어 위에 1/n, MV, ERC 위치 표시</a:t>
            </a:r>
            <a:br/>
            <a:r>
              <a:t>또는 Bridgewater All Weather 성과 차트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§3 핵심 정리: σ_MV ≤ σ_ERC ≤ σ_1/n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σ_MV  ≤  σ_ERC  ≤  σ_1/n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57575"/>
                </a:solidFill>
              </a:defRPr>
            </a:pPr>
            <a:r>
              <a:t>어떤 시장에서든 항상 성립하는 수학적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MV: 변동성 최소화의 극단 → 당연히 가장 낮음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1/n: 리스크를 전혀 고려 안 함 → 당연히 가장 높음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ERC: 리스크를 "균등화" (최소화 아님) → 중간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제 실증: 5.15% ≤ 7.98% ≤ 13.88% ✓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논문 Global: 3.20% ≤ 4.92% ≤ 10.87%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303520" cy="18288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주가 움직임으로 이해하면:</a:t>
            </a:r>
            <a:br/>
            <a:r>
              <a:t>• MV: IEF에 57.6% → IEF 0.4% 움직이면 포트폴리오 0.23%</a:t>
            </a:r>
            <a:br/>
            <a:r>
              <a:t>  매우 안정적이지만 IEF 하나에 운명이 걸림</a:t>
            </a:r>
            <a:br/>
            <a:r>
              <a:t>• 1/n: 13개 균등 → 주식 6개 동시 폭락 시 상쇄 안됨</a:t>
            </a:r>
            <a:br/>
            <a:r>
              <a:t>• ERC: 채권 63% + 주식 22% → 어느 한쪽에 운명 안 걸림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10972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실무적 의미: ERC 선택 시 MV 대비 연 2.83%p 추가 변동성 감수</a:t>
            </a:r>
            <a:br/>
            <a:r>
              <a:t>→ 대가: 13개 자산 모두 투자, 턴오버 절반, 특정 자산 의존도 제거</a:t>
            </a:r>
            <a:br/>
            <a:r>
              <a:t>1/n 대비 5.90%p 변동성 절감 → 1억 원 투자 시 하루 최대 손실 261만원→128만원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§4.1 4자산 Toy Example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변동성: 10% / 20% / 30% / 40%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상관: Asset 1-2 = 0.80, Asset 3-4 = −0.50, 나머지 =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3474720" cy="18288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1/n: 모두 25%씩</a:t>
            </a:r>
            <a:br/>
            <a:r>
              <a:t>RC: 12.3% / 26.4% / 14.1% / 47.2%</a:t>
            </a:r>
            <a:br/>
            <a:r>
              <a:t>→ Asset 4가 리스크의 47% 차지</a:t>
            </a:r>
            <a:br/>
            <a:r>
              <a:t>→ 돈은 균등, 리스크는 극도로 불균등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651760"/>
            <a:ext cx="3474720" cy="18288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MV: 74.5% / 0% / 15% / 10.4%</a:t>
            </a:r>
            <a:br/>
            <a:r>
              <a:t>→ Asset 2 완전 배제!</a:t>
            </a:r>
            <a:br/>
            <a:r>
              <a:t>Asset 1과 상관 0.80이라 "열등한 복제품"</a:t>
            </a:r>
            <a:br/>
            <a:r>
              <a:t>→ MV의 구조적 문제: 비슷한 자산 중 하나 배제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651760"/>
            <a:ext cx="38404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ERC: 38.4% / 19.2% / 24.3% / 18.2%</a:t>
            </a:r>
            <a:br/>
            <a:r>
              <a:t>RC: 25% / 25% / 25% / 25% ← 완벽 균등</a:t>
            </a:r>
            <a:br/>
            <a:r>
              <a:t>→ 모든 자산에 양의 비중</a:t>
            </a:r>
            <a:br/>
            <a:r>
              <a:t>→ Asset 2도 19.2% (배제 안 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부등식: σ_MV(8.6%) ≤ σ_ERC(10.3%) ≤ σ_1/n(11.5%)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530352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4자산 Weights 막대그래프</a:t>
            </a:r>
            <a:br/>
            <a:r>
              <a:t>→ plotly-fig1-weights 캡처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120640"/>
            <a:ext cx="530352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4자산 RC 막대그래프</a:t>
            </a:r>
            <a:br/>
            <a:r>
              <a:t>→ plotly-fig1-rc 캡처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집중도 측정: Herfindahl, Gini, Turnover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Herfindahl H̄: 가중치 제곱합 → "가장 큰 비중이 얼마나 큰가"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Gini Ḡ: 로렌츠 곡선 → "전체 분포가 얼마나 불균등한가"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Turnover T̄: 리밸런싱 시 비중 변화 → 거래비용 대리변수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0 = 완전 균등, 1 = 단일 자산 집중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109728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제 실증 결과:</a:t>
            </a:r>
            <a:br/>
            <a:r>
              <a:t>         H̄_w      Ḡ_w      T̄_w      H̄_rc     Ḡ_rc</a:t>
            </a:r>
            <a:br/>
            <a:r>
              <a:t>1/n:    0.59%    0.00%    0.00%    5.46%   42.64%</a:t>
            </a:r>
            <a:br/>
            <a:r>
              <a:t>MV:    40.78%   81.96%   10.85%   40.78%   81.96%</a:t>
            </a:r>
            <a:br/>
            <a:r>
              <a:t>ERC:    6.36%   38.02%    5.96%    0.61%    0.27%  ← RC 거의 완벽 균등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0"/>
            <a:ext cx="5303520" cy="137160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C62828"/>
                </a:solidFill>
              </a:defRPr>
            </a:pPr>
            <a:r>
              <a:t>MV의 Gini 82% = IEF 하나에 57.6% 몰림</a:t>
            </a:r>
            <a:br/>
            <a:r>
              <a:t>"멀티에셋 포트폴리오"인데 실질적으로 국채 펀드</a:t>
            </a:r>
            <a:br/>
            <a:r>
              <a:t>미국 국채에 구조적 변화 오면 포트폴리오 붕괴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5029200"/>
            <a:ext cx="5303520" cy="13716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ERC 턴오버 5.96% vs MV 10.85%</a:t>
            </a:r>
            <a:br/>
            <a:r>
              <a:t>= 매월 비중 조정량이 절반</a:t>
            </a:r>
            <a:br/>
            <a:r>
              <a:t>= 거래비용 절반</a:t>
            </a:r>
            <a:br/>
            <a:r>
              <a:t>대형 기관에서 연간 수십억 원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§4.2 실증 1: US Equity Sectors (10개, 1973-2008)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동질적 유니버스 — 모든 자산이 미국 주식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400800" cy="3200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• 변동성 14.5%(유틸리티)~26.2%(기술) = 1.8배</a:t>
            </a:r>
            <a:br/>
            <a:r>
              <a:t>• 평균 상관 ~63% — 미국 경제 좋으면 다 같이 오르고 나쁘면 다 같이 빠짐</a:t>
            </a:r>
            <a:br/>
            <a:r>
              <a:t>• MV 샤프 0.77 최고 — 유틸리티+헬스케어에 집중이 효과적</a:t>
            </a:r>
            <a:br/>
            <a:r>
              <a:t>• 하지만 MV Gini 79% = 10개 중 2~3개에만 투자</a:t>
            </a:r>
            <a:br/>
            <a:r>
              <a:t>• ERC 샤프 0.65, Gini 13.5% — 모든 섹터에 합리적 분배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6400800" cy="7315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1">
                <a:solidFill>
                  <a:srgbClr val="0066CC"/>
                </a:solidFill>
              </a:defRPr>
            </a:pPr>
            <a:r>
              <a:t>동질적 자산에서는 MV가 유리 — 비슷한 자산 중 가장 안정적인 것에 집중하는 전략이 효과적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38912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Table 1 &amp; 2 이미지</a:t>
            </a:r>
            <a:br/>
            <a:r>
              <a:t>→ img_table1.png, img_table2.png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§4.2 실증 2: Agricultural Commodity (8개, 1979-2008)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저상관 유니버스 — 각 농산물이 독립적 리스크 소스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400800" cy="32004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• 코코아→서아프리카 날씨, 밀→미국 작황, 커피→브라질 서리</a:t>
            </a:r>
            <a:br/>
            <a:r>
              <a:t>• 상관 ~10% — 각 농산물이 독립적으로 움직임</a:t>
            </a:r>
            <a:br/>
            <a:r>
              <a:t>• MV 샤프 0.74 최고 — 원유(CLC)에 38% 집중</a:t>
            </a:r>
            <a:br/>
            <a:r>
              <a:t>• ERC: "8개 독립적 베팅에 같은 리스크 예산 배분"</a:t>
            </a:r>
            <a:br/>
            <a:r>
              <a:t>• 단일 농산물에 38% 넣는 것은 수급 충격에 극도로 취약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6400800" cy="7315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저상관 환경에서도 MV가 샤프 최고이지만 극단적 집중 문제는 동일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38912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Table 3 &amp; 4 이미지</a:t>
            </a:r>
            <a:br/>
            <a:r>
              <a:t>→ img_table3.png, img_table4.png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§4.2 실증 3: Global Diversified (13개, 1995-2008)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이질적 유니버스 — 주식+채권+원자재 혼합 ★ 논문의 핵심 결과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6400800" cy="32004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• 변동성 4.3%(하이일드)~29.8%(중남미 주식) = 6.9배</a:t>
            </a:r>
            <a:br/>
            <a:r>
              <a:t>• 주식-채권 상관 −19% — 주식 빠지면 채권 오름</a:t>
            </a:r>
            <a:br/>
            <a:r>
              <a:t>• ERC 샤프 0.67 최고! MV 0.49, 1/n 0.27</a:t>
            </a:r>
            <a:br/>
            <a:r>
              <a:t>• MV는 채권에 80%+ 올인 → 수익률 5.42%에 갇힘</a:t>
            </a:r>
            <a:br/>
            <a:r>
              <a:t>• 1/n은 주식 8개에 62% → 2008 위기 시 −34% 폭락</a:t>
            </a:r>
            <a:br/>
            <a:r>
              <a:t>• ERC: 채권 안정성 + 주식 성장성 균형 → 최고 샤프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6400800" cy="7315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이질적 자산군에서 ERC가 압도적 — 논문의 핵심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188720"/>
            <a:ext cx="438912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Table 5 &amp; 6 이미지</a:t>
            </a:r>
            <a:br/>
            <a:r>
              <a:t>→ img_table5.png, img_table6.png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Figure 1 &amp; 2: 논문 원본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566928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Figure 1: Weights &amp; RC (Commodity)</a:t>
            </a:r>
            <a:br/>
            <a:r>
              <a:t>→ img_figure1.png</a:t>
            </a:r>
            <a:br/>
            <a:r>
              <a:t>상단: Weights (1/n, MV, ERC)</a:t>
            </a:r>
            <a:br/>
            <a:r>
              <a:t>하단: RC (1/n, MV, ERC)</a:t>
            </a:r>
            <a:br/>
            <a:r>
              <a:t>ERC RC만 수평선!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Figure 2: Cumulative Returns (Global)</a:t>
            </a:r>
            <a:br/>
            <a:r>
              <a:t>→ img_figure2.png</a:t>
            </a:r>
            <a:br/>
            <a:r>
              <a:t>1/n(빨간) 급등락, MV(검정) 안정, ERC(파란) 중간</a:t>
            </a:r>
            <a:br/>
            <a:r>
              <a:t>2008 위기: 1/n −34%, MV −9%, ERC −14%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논문 실증 종합: 3개 유니버스 비교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0972800" cy="1828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유니버스        자산수  기간       유형      평균상관  1/n샤프  MV샤프  ERC샤프  최고</a:t>
            </a:r>
            <a:br/>
            <a:r>
              <a:t>US Sectors    10    1973-08   주식       ~63%    0.62    0.77    0.65    MV</a:t>
            </a:r>
            <a:br/>
            <a:r>
              <a:t>Commodity      8    1979-08   원자재     ~10%    0.27    0.74    0.49    MV</a:t>
            </a:r>
            <a:br/>
            <a:r>
              <a:t>Global        13    1995-08   멀티에셋   이질적   0.27    0.49    0.67    ERC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5303520" cy="18288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0">
                <a:solidFill>
                  <a:srgbClr val="2E7D32"/>
                </a:solidFill>
              </a:defRPr>
            </a:pPr>
            <a:r>
              <a:t>핵심 패턴:</a:t>
            </a:r>
            <a:br/>
            <a:r>
              <a:t>동질적 자산(주식만, 원자재만) → MV 우위</a:t>
            </a:r>
            <a:br/>
            <a:r>
              <a:t>이질적 자산(주식+채권+원자재) → ERC 압도적</a:t>
            </a:r>
            <a:br/>
            <a:br/>
            <a:r>
              <a:t>σ 비율(max/min)이 3~4배 이상이면 ERC가 강력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200400"/>
            <a:ext cx="5303520" cy="18288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왜 이질적 자산에서 ERC가 이기는가?</a:t>
            </a:r>
            <a:br/>
            <a:r>
              <a:t>• MV: 채권에 올인 → 주식 성장성 포기</a:t>
            </a:r>
            <a:br/>
            <a:r>
              <a:t>• 1/n: 주식에 과다 노출 → 위기 시 폭락</a:t>
            </a:r>
            <a:br/>
            <a:r>
              <a:t>• ERC: 각 자산의 "충격 크기"를 같게 만들어서</a:t>
            </a:r>
            <a:br/>
            <a:r>
              <a:t>  안전성과 성장성을 동시에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0972800" cy="11887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현실의 기관투자자 포트폴리오는 거의 항상 이질적 유니버스 (주식+채권+대체)</a:t>
            </a:r>
            <a:br/>
            <a:r>
              <a:t>→ 논문의 핵심 발견 "이질적 자산군에서 ERC가 강력하다"는 실무적으로 매우 중요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드리븐: 데이터 소스 &amp; 유니버스 상세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0972800" cy="4572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000" b="0">
                <a:solidFill>
                  <a:srgbClr val="2E7D32"/>
                </a:solidFill>
              </a:defRPr>
            </a:pPr>
            <a:r>
              <a:t>13개 ETF | yfinance Adj Close | 2007.01~2018.12 (3,020일) | 252일 롤링 공분산 | 월간 리밸런싱 131회 | scipy SLSQP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2860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주식 6개 (σ 19.75~33.19%)</a:t>
            </a:r>
            <a:br/>
            <a:r>
              <a:t>SPY  미국 대형주    σ=19.75%</a:t>
            </a:r>
            <a:br/>
            <a:r>
              <a:t>EWY  한국           σ=32.90%</a:t>
            </a:r>
            <a:br/>
            <a:r>
              <a:t>EWJ  일본           σ=21.63%</a:t>
            </a:r>
            <a:br/>
            <a:r>
              <a:t>EWU  영국           σ=24.71%</a:t>
            </a:r>
            <a:br/>
            <a:r>
              <a:t>EEM  신흥국         σ=31.40%</a:t>
            </a:r>
            <a:br/>
            <a:r>
              <a:t>EWH  홍콩           σ=26.21%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45920"/>
            <a:ext cx="3474720" cy="2286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채권 4개 (σ 6.76~14.39%)</a:t>
            </a:r>
            <a:br/>
            <a:r>
              <a:t>TLT  미국 장기국채  σ=14.39%</a:t>
            </a:r>
            <a:br/>
            <a:r>
              <a:t>IEF  미국 중기국채  σ= 6.76%</a:t>
            </a:r>
            <a:br/>
            <a:r>
              <a:t>LQD  투자등급 회사채 σ= 8.18%</a:t>
            </a:r>
            <a:br/>
            <a:r>
              <a:t>HYG  하이일드 회사채 σ=11.78%</a:t>
            </a:r>
            <a:br/>
            <a:br/>
            <a:r>
              <a:t>주식-채권 상관: −43%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840480" cy="2286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대체 3개 (σ 18.45~33.19%)</a:t>
            </a:r>
            <a:br/>
            <a:r>
              <a:t>GLD  금            σ=18.45%</a:t>
            </a:r>
            <a:br/>
            <a:r>
              <a:t>DBC  원자재 바스켓  σ=19.49%</a:t>
            </a:r>
            <a:br/>
            <a:r>
              <a:t>VNQ  미국 리츠     σ=33.19%</a:t>
            </a:r>
            <a:br/>
            <a:br/>
            <a:r>
              <a:t>금-주식 상관: ~3% (거의 무상관)</a:t>
            </a:r>
            <a:br/>
            <a:r>
              <a:t>σ 범위: 6.76~33.19% = 4.9배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0972800" cy="9144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상관행렬 핵심: 주식끼리 71~89% (동시 폭락 위험) | 주식-채권 −43% (방어 효과) | 금-주식 ~3% (독립적 리스크 소스)</a:t>
            </a:r>
            <a:br/>
            <a:r>
              <a:t>HYG(하이일드)는 채권이지만 주식과 상관 63.6% → "주식 성격의 채권" → ERC에서 비중 낮음(7.8%)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13×13 상관행렬 히트맵</a:t>
            </a:r>
            <a:br/>
            <a:r>
              <a:t>→ erc_30min.html의 상관행렬 표 캡처 또는 Python으로 히트맵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드리븐: Table 2 — 세 전략 성과 비교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~2분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32004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              1/n      MV       ERC</a:t>
            </a:r>
            <a:br/>
            <a:r>
              <a:t>Return      4.71%    3.32%    3.47%</a:t>
            </a:r>
            <a:br/>
            <a:r>
              <a:t>Volatility  13.88%   5.15%    7.98%</a:t>
            </a:r>
            <a:br/>
            <a:r>
              <a:t>Sharpe      0.34     0.64★    0.43</a:t>
            </a:r>
            <a:br/>
            <a:r>
              <a:t>DD Max     −40.34%  −14.55%  −29.23%</a:t>
            </a:r>
            <a:br/>
            <a:r>
              <a:t>Ḡ_w        0.00%   81.96%   38.02%</a:t>
            </a:r>
            <a:br/>
            <a:r>
              <a:t>Ḡ_rc      42.64%   81.96%    0.27%★</a:t>
            </a:r>
            <a:br/>
            <a:r>
              <a:t>Turnover    0.00%   10.85%    5.96%</a:t>
            </a:r>
            <a:br/>
            <a:br/>
            <a:r>
              <a:t>부등식: 5.15% ≤ 7.98% ≤ 13.88% 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1억 원 투자 시:</a:t>
            </a:r>
            <a:br/>
            <a:r>
              <a:t>• 1/n: 13개 ETF에 각 770만원 → 리스크는 주식에 몰림</a:t>
            </a:r>
            <a:br/>
            <a:r>
              <a:t>• MV: IEF에 5,760만원 → 사실상 "미국 국채 펀드"</a:t>
            </a:r>
            <a:br/>
            <a:r>
              <a:t>• ERC: IEF 2,980만원, TLT 1,310만원... 모든 자산이</a:t>
            </a:r>
            <a:br/>
            <a:r>
              <a:t>  리스크의 정확히 7.69%씩 기여하도록 조절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017520"/>
            <a:ext cx="5303520" cy="13716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MV 샤프 0.64 최고인 이유:</a:t>
            </a:r>
            <a:br/>
            <a:r>
              <a:t>2008 위기 첫 해에 SPY −37%, EWY −55% 폭락할 때</a:t>
            </a:r>
            <a:br/>
            <a:r>
              <a:t>IEF +18% 상승 → MV의 채권 집중이 극도로 유리</a:t>
            </a:r>
            <a:br/>
            <a:r>
              <a:t>이 한 해의 차이가 11년 전체 샤프를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572000"/>
            <a:ext cx="5303520" cy="18288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Table 6 이미지 (비교용)</a:t>
            </a:r>
            <a:br/>
            <a:r>
              <a:t>→ img_table6.png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드리븐: Figure 1 재현 — Weights &amp; RC 박스플롯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669280" cy="256032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Figure 1 원본 (Commodity, 8자산)</a:t>
            </a:r>
            <a:br/>
            <a:r>
              <a:t>→ img_figure1.png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669280" cy="256032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실제 데이터 재현 — 상단 3패널: Weights 박스플롯</a:t>
            </a:r>
            <a:br/>
            <a:r>
              <a:t>→ erc_30min.html의 box-w-ew, box-w-mv, box-w-erc 캡처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840480"/>
            <a:ext cx="5669280" cy="256032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실제 데이터 재현 — 하단 3패널: RC 박스플롯</a:t>
            </a:r>
            <a:br/>
            <a:r>
              <a:t>→ erc_30min.html의 box-rc-ew, box-rc-mv, box-rc-erc 캡처</a:t>
            </a:r>
            <a:br/>
            <a:r>
              <a:t>ERC RC = 거의 완벽한 수평선!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840480"/>
            <a:ext cx="5669280" cy="2560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핵심 관찰:</a:t>
            </a:r>
            <a:br/>
            <a:r>
              <a:t>• 1/n Weights: 모두 7.69% 수평선</a:t>
            </a:r>
            <a:br/>
            <a:r>
              <a:t>• MV Weights: IEF에 25~81% 극단 집중</a:t>
            </a:r>
            <a:br/>
            <a:r>
              <a:t>• ERC Weights: IEF 15~54%, 나머지 2~19%</a:t>
            </a:r>
            <a:br/>
            <a:r>
              <a:t>• 1/n RC: EEM 16%, TLT −7% (극도로 불균등)</a:t>
            </a:r>
            <a:br/>
            <a:r>
              <a:t>• ERC RC: 모든 자산 ~7.69% (완벽한 수평선)</a:t>
            </a:r>
            <a:br/>
            <a:br/>
            <a:r>
              <a:t>자산군별 ERC: 채권 자본 63% → 리스크 31%</a:t>
            </a:r>
            <a:br/>
            <a:r>
              <a:t>              주식 자본 22% → 리스크 46%</a:t>
            </a:r>
            <a:br/>
            <a:r>
              <a:t>→ 돈은 불균등, 리스크는 균등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드리븐: 누적 수익률 시계열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5669280" cy="2743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논문 Figure 2 원본</a:t>
            </a:r>
            <a:br/>
            <a:r>
              <a:t>→ img_figure2.png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669280" cy="274320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실제 누적 수익률 차트 (Plotly)</a:t>
            </a:r>
            <a:br/>
            <a:r>
              <a:t>→ erc_30min.html의 plotly-driven-cumret 캡처</a:t>
            </a:r>
            <a:br/>
            <a:r>
              <a:t>1/n(빨간) 롤러코스터, MV(검정) 직선, ERC(초록) 중간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023360"/>
            <a:ext cx="5669280" cy="2560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2008 위기 타임라인:</a:t>
            </a:r>
            <a:br/>
            <a:r>
              <a:t>• 9월 리먼 파산 → 1/n: 100→66 (−34%)</a:t>
            </a:r>
            <a:br/>
            <a:r>
              <a:t>  SPY −37%, EWY −55%, VNQ −72% 동시 폭락</a:t>
            </a:r>
            <a:br/>
            <a:r>
              <a:t>• MV: 100→89 (−11%) — IEF +18%로 방어</a:t>
            </a:r>
            <a:br/>
            <a:r>
              <a:t>• ERC: 100→79 (−21%) — 채권이 방어하지만 주식도 보유</a:t>
            </a:r>
            <a:br/>
            <a:br/>
            <a:r>
              <a:t>최종 (2018.12): 1/n 150.6, MV 141.5, ERC 141.1</a:t>
            </a:r>
            <a:br/>
            <a:r>
              <a:t>1/n이 절대 수익률 최고이지만 −40% 폭락 경험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669280" cy="25603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2E7D32"/>
                </a:solidFill>
              </a:defRPr>
            </a:pPr>
            <a:r>
              <a:t>핵심: 세 전략의 "경로"가 다름</a:t>
            </a:r>
            <a:br/>
            <a:r>
              <a:t>• 1/n: 롤러코스터 (급등락)</a:t>
            </a:r>
            <a:br/>
            <a:r>
              <a:t>• MV: 거의 직선 (안정적이지만 수익률 낮음)</a:t>
            </a:r>
            <a:br/>
            <a:r>
              <a:t>• ERC: 중간</a:t>
            </a:r>
            <a:br/>
            <a:br/>
            <a:r>
              <a:t>−40% 폭락 경험 → 대부분 패닉 매도 → 회복 수혜 못 받음</a:t>
            </a:r>
            <a:br/>
            <a:r>
              <a:t>ERC의 −29%가 1/n의 −40%보다 심리적으로 견딜 만함</a:t>
            </a:r>
            <a:br/>
            <a:br/>
            <a:r>
              <a:t>레버리지 적용 시: ERC×1.74배 → 1/n과 동일 변동성에서</a:t>
            </a:r>
            <a:br/>
            <a:r>
              <a:t>수익률 6.04% &gt; 1/n 4.71%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 vs 논문: 비교 분석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~1.5분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109728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              논문 Global (1995-2008)          내 ETF (2008-2018)</a:t>
            </a:r>
            <a:br/>
            <a:r>
              <a:t>              1/n    MV     ERC               1/n    MV     ERC</a:t>
            </a:r>
            <a:br/>
            <a:r>
              <a:t>Return      7.83%  5.42%  6.65%             4.71%  3.32%  3.47%</a:t>
            </a:r>
            <a:br/>
            <a:r>
              <a:t>Volatility  10.87%  3.20%  4.92%            13.88%  5.15%  7.98%</a:t>
            </a:r>
            <a:br/>
            <a:r>
              <a:t>Sharpe      0.27   0.49   0.67★             0.34   0.64★  0.43</a:t>
            </a:r>
            <a:br/>
            <a:r>
              <a:t>DD Max     −33.73% −8.96% −14.45%          −40.34% −14.55% −29.23%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5303520" cy="164592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차이: 샤프 순위가 다름</a:t>
            </a:r>
            <a:br/>
            <a:r>
              <a:t>논문: ERC 0.67 최고 | 내 데이터: MV 0.64 최고</a:t>
            </a:r>
            <a:br/>
            <a:br/>
            <a:r>
              <a:t>원인: 백테스트 시작 시점</a:t>
            </a:r>
            <a:br/>
            <a:r>
              <a:t>• 내 데이터: 2008 위기 직전 시작 → MV 채권 집중 유리</a:t>
            </a:r>
            <a:br/>
            <a:r>
              <a:t>• 논문: 1995년 시작 → 위기 전 13년 상승장이 ERC에 유리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017520"/>
            <a:ext cx="53035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공통점 (더 중요!):</a:t>
            </a:r>
            <a:br/>
            <a:r>
              <a:t>① 부등식 σ_MV ≤ σ_ERC ≤ σ_1/n 양쪽 모두 성립 ✓</a:t>
            </a:r>
            <a:br/>
            <a:r>
              <a:t>② ERC RC Gini ≈ 0% 양쪽 모두 ✓</a:t>
            </a:r>
            <a:br/>
            <a:r>
              <a:t>③ MV 가중치 Gini &gt; 79% 양쪽 모두 ✓</a:t>
            </a:r>
            <a:br/>
            <a:r>
              <a:t>④ ERC 턴오버 ≈ MV의 절반 ✓</a:t>
            </a:r>
            <a:br/>
            <a:r>
              <a:t>⑤ 이질적 자산군에서 ERC &gt; 1/n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097280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결론: 샤프 순위는 기간에 따라 달라질 수 있지만, ERC의 구조적 성질은 시장 환경에 무관하게 보편적</a:t>
            </a:r>
            <a:br/>
            <a:br/>
            <a:r>
              <a:t>기간별 서브샘플: 위기(2008~09) → MV 압도적 | 회복(2009~13) → 1/n 우위 | 저변동성(2014~18) → MV 우위</a:t>
            </a:r>
            <a:br/>
            <a:r>
              <a:t>ERC는 모든 기간에서 중간 — "전천후" 전략의 본질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 드리븐: 가중치 &amp; RC 시계열</a:t>
            </a:r>
          </a:p>
          <a:p>
            <a:pPr>
              <a:defRPr sz="1400">
                <a:solidFill>
                  <a:srgbClr val="90CAF9"/>
                </a:solidFill>
              </a:defRPr>
            </a:pPr>
            <a:r>
              <a:t>~1분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256032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ERC 가중치 시계열 차트</a:t>
            </a:r>
            <a:br/>
            <a:r>
              <a:t>→ erc_30min.html의 plotly-driven-weight-ts 캡처</a:t>
            </a:r>
            <a:br/>
            <a:r>
              <a:t>IEF 15~54%, TLT 7~24%, 주식 각 2~10%</a:t>
            </a:r>
            <a:br/>
            <a:r>
              <a:t>2008 위기 직후 채권 비중 급증 = "자동 방어" 메커니즘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[사진 위치] ERC RC 시계열 차트</a:t>
            </a:r>
            <a:br/>
            <a:r>
              <a:t>→ erc_30min.html의 plotly-driven-rc-ts 캡처</a:t>
            </a:r>
            <a:br/>
            <a:r>
              <a:t>ERC RC(초록 실선) = 모든 자산 ~7.69% 완벽한 수평선</a:t>
            </a:r>
            <a:br/>
            <a:r>
              <a:t>1/n RC(점선) = EEM 16%, TLT −1.3% 극도로 불균등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§5 Conclusion: 논문의 결론 &amp; 내 실증의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CC"/>
                </a:solidFill>
              </a:defRPr>
            </a:pPr>
            <a:r>
              <a:t>논문의 핵심 기여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① ERC를 수학적으로 정의: σᵢ(x) = σⱼ(x) ∀i,j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② 2자산 닫힌 해: x₁ = σ₂/(σ₁+σ₂), 상관에 무관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③ 수치 최적화: 식(6) 직접 + 식(7) 볼록 변환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④ 부등식: σ_MV ≤ σ_ERC ≤ σ_1/n (항상 성립)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⑤ 이질적 자산군에서 ERC 샤프 최고 (0.67)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내 실증이 확인한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</a:defRPr>
            </a:pPr>
            <a:r>
              <a:t>✓ 부등식 5.15% ≤ 7.98% ≤ 13.88% 성립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</a:defRPr>
            </a:pPr>
            <a:r>
              <a:t>✓ ERC RC Gini 0.27% ≈ 0 (완벽 균등)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</a:defRPr>
            </a:pPr>
            <a:r>
              <a:t>✓ MV 가중치 Gini 82% (극단적 집중)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</a:defRPr>
            </a:pPr>
            <a:r>
              <a:t>✓ ERC 턴오버 5.96% = MV의 절반</a:t>
            </a:r>
          </a:p>
          <a:p>
            <a:pPr>
              <a:spcAft>
                <a:spcPts val="600"/>
              </a:spcAft>
              <a:defRPr sz="1400">
                <a:solidFill>
                  <a:srgbClr val="2E7D32"/>
                </a:solidFill>
              </a:defRPr>
            </a:pPr>
            <a:r>
              <a:t>✓ ERC 샤프 0.43 &gt; 1/n 0.34 (ERC가 1/n 지배)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303520" cy="2286000"/>
          </a:xfrm>
          <a:prstGeom prst="round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E65100"/>
                </a:solidFill>
              </a:defRPr>
            </a:pPr>
            <a:r>
              <a:t>한계:</a:t>
            </a:r>
            <a:br/>
            <a:r>
              <a:t>• 거래비용 미반영</a:t>
            </a:r>
            <a:br/>
            <a:r>
              <a:t>• 공분산 추정 오류 영향 미분석</a:t>
            </a:r>
            <a:br/>
            <a:r>
              <a:t>• 레버리지 미고려</a:t>
            </a:r>
            <a:br/>
            <a:r>
              <a:t>• 대규모 포트폴리오 계산 비용</a:t>
            </a:r>
            <a:br/>
            <a:r>
              <a:t>• 변동성만 사용 (왜도·첨도 무시)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200" b="0">
                <a:solidFill>
                  <a:srgbClr val="2E7D32"/>
                </a:solidFill>
              </a:defRPr>
            </a:pPr>
            <a:r>
              <a:t>후속 연구 &amp; 실무:</a:t>
            </a:r>
            <a:br/>
            <a:r>
              <a:t>• Roncalli (2013): 유일성 증명, 리스크 버짓팅 교과서</a:t>
            </a:r>
            <a:br/>
            <a:r>
              <a:t>• Bridgewater All Weather: AUM $150B+</a:t>
            </a:r>
            <a:br/>
            <a:r>
              <a:t>• AQR Risk Parity, Invesco Balanced-Risk</a:t>
            </a:r>
            <a:br/>
            <a:r>
              <a:t>• López de Prado (2016): Hierarchical Risk Parity</a:t>
            </a:r>
            <a:br/>
            <a:r>
              <a:t>• 한국: 국민연금, 사학연금 부분 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Q&amp;A 예상 질문 &amp; 답변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Q1: 논문은 ERC 최고인데 왜 내 데이터는 MV 최고?</a:t>
            </a:r>
            <a:br/>
            <a:br/>
            <a:r>
              <a:t>→ 백테스트 시작 시점 차이. 2008 위기 직전 시작 → MV 채권 집중 유리. 구조적 성질은 동일.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Q2: ERC가 MV보다 항상 좋은가?</a:t>
            </a:r>
            <a:br/>
            <a:br/>
            <a:r>
              <a:t>→ 아니다. 동질적 자산(주식만)에서는 MV가 유리. ERC는 이질적 자산(주식+채권+대체)에서 강하다.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54864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Q3: Risk Parity와 ERC는 같은가?</a:t>
            </a:r>
            <a:br/>
            <a:br/>
            <a:r>
              <a:t>→ ERC = Risk Parity의 수학적 정의. 실무에서 Risk Parity = ERC + 레버리지.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48640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Q4: MV가 IEF에 57.6% 집중하는 건 문제 아닌가?</a:t>
            </a:r>
            <a:br/>
            <a:br/>
            <a:r>
              <a:t>→ 맞다. 가중치 Gini 82%. 단일 자산에 57% 넣는 것은 실무적으로 수용 불가.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754880"/>
            <a:ext cx="54864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Q5: 60/40과 ERC의 차이는?</a:t>
            </a:r>
            <a:br/>
            <a:br/>
            <a:r>
              <a:t>→ 60/40: 자본 6:4, 리스크 110:−10 → 사실상 주식 올인. ERC: 리스크 50:50 → 진짜 분산.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54880"/>
            <a:ext cx="5486400" cy="16459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Q6: 레버리지 적용하면?</a:t>
            </a:r>
            <a:br/>
            <a:br/>
            <a:r>
              <a:t>→ ERC×1.74배 → 1/n과 동일 변동성에서 수익률 6.04% &gt; 4.71%. Bridgewater 방식.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실무 시사점 &amp;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멀티에셋 포트폴리오 → ERC 적극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주식+채권+대체 이질적 유니버스에서 ERC가 1/n을 지배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MV의 함정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057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샤프는 높지만 IEF 57.6% 집중 = 사실상 채권 펀드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거래비용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ERC 턴오버 5.96% = MV(10.85%)의 절반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위기 자동 방어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7947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공분산 변화에 반응하여 자동으로 채권 비중↑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레버리지 옵션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ERC×1.74배 → 동일 변동성에서 더 높은 수익률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0CAF9"/>
                </a:solidFill>
              </a:defRPr>
            </a:pPr>
            <a:r>
              <a:t>🔹 한국 시장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532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EFB"/>
                </a:solidFill>
              </a:defRPr>
            </a:pPr>
            <a:r>
              <a:t>KODEX 200 + TIGER 미국채 + KODEX 골드 + KODEX WTI → 4자산 ERC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"돈이 아니라 리스크를 나눠라" — 이것이 ERC의 핵심이고, 이 논문이 그 수학적 기초입니다.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</a:defRPr>
            </a:pPr>
            <a: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